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&#10;    width: '1280px', height: '720px',&#10;    background: '#061F32',&#10;    padding: '56px 60px 50px 60px',&#10;    justifyContent: 'space-between',&#10;}}&gt;&#10;    &lt;Box&gt;&#10;        &lt;Text style={{ fontSize: 20, color: '#08A6F6', letterSpacing: 2 }}&gt;OLIST 电商平台 · 数据部专项分析&lt;/Text&gt;&#10;        &lt;Box style={{ height: 20 }} /&gt;&#10;        &lt;Text style={{ fontSize: 86, fontWeight: 'bold', color: '#FFFFFF', lineHeight: 1.15 }}&gt;&#10;            履约延迟治理专项&#10;        &lt;/Text&gt;&#10;        &lt;Text style={{ fontSize: 86, fontWeight: 'bold', color: '#99BDED', lineHeight: 1.15 }}&gt;&#10;            数据部工作报告&#10;        &lt;/Text&gt;&#10;        &lt;Box style={{ height: 24 }} /&gt;&#10;        &lt;Text style={{ fontSize: 26, color: '#E7E6E6' }}&gt;&#10;            从 9.41% 的延迟订单里，找回被拖垮的 1.78 分评分&#10;        &lt;/Text&gt;&#10;    &lt;/Box&gt;&#10;&#10;    &lt;Box style={{ flexDirection: 'row', gap: 58 }}&gt;&#10;        &lt;Box&gt;&#10;            &lt;Text style={{ fontSize: 15, color: '#808080' }}&gt;总体延迟率&lt;/Text&gt;&#10;            &lt;Text style={{ fontSize: 36, fontWeight: 'bold', color: '#FFFFFF' }}&gt;9.41%&lt;/Text&gt;&#10;        &lt;/Box&gt;&#10;        &lt;Box&gt;&#10;            &lt;Text style={{ fontSize: 15, color: '#808080' }}&gt;延迟单评分&lt;/Text&gt;&#10;            &lt;Text style={{ fontSize: 36, fontWeight: 'bold', color: '#F47B39' }}&gt;2.48&lt;/Text&gt;&#10;        &lt;/Box&gt;&#10;        &lt;Box&gt;&#10;            &lt;Text style={{ fontSize: 15, color: '#808080' }}&gt;准时单评分&lt;/Text&gt;&#10;            &lt;Text style={{ fontSize: 36, fontWeight: 'bold', color: '#FFFFFF' }}&gt;4.26&lt;/Text&gt;&#10;        &lt;/Box&gt;&#10;        &lt;Box&gt;&#10;            &lt;Text style={{ fontSize: 15, color: '#808080' }}&gt;待清退卖家&lt;/Text&gt;&#10;            &lt;Text style={{ fontSize: 36, fontWeight: 'bold', color: '#FFFFFF' }}&gt;132 家&lt;/Text&gt;&#10;        &lt;/Box&gt;&#10;        &lt;Box&gt;&#10;            &lt;Text style={{ fontSize: 15, color: '#808080' }}&gt;承诺时效红线&lt;/Text&gt;&#10;            &lt;Text style={{ fontSize: 36, fontWeight: 'bold', color: '#08A6F6' }}&gt;≤1 天&lt;/Text&gt;&#10;        &lt;/Box&gt;&#10;    &lt;/Box&gt;&#10;&#10;    &lt;Box&gt;&#10;        &lt;Text style={{ fontSize: 17, color: '#99BDED' }}&gt;延迟天数 ↑ → 平均评分 ↓（延迟 3 天起断崖式下跌）&lt;/Text&gt;&#10;        &lt;Box style={{ height: 10 }} /&gt;&#10;        &lt;Box style={{ flexDirection: 'row', alignItems: 'flex-end', justifyContent: 'space-between', height: 132 }}&gt;&#10;            &lt;Box style={{ width: 100, height: 130, background: '#001965' }} /&gt;&#10;            &lt;Box style={{ width: 100, height: 121, background: '#001965' }} /&gt;&#10;            &lt;Box style={{ width: 100, height: 112, background: '#001965' }} /&gt;&#10;            &lt;Box style={{ width: 100, height: 91, background: '#F47B39' }} /&gt;&#10;            &lt;Box style={{ width: 100, height: 79, background: '#F47B39' }} /&gt;&#10;            &lt;Box style={{ width: 100, height: 73, background: '#5A0E13' }} /&gt;&#10;            &lt;Box style={{ width: 100, height: 62, background: '#5A0E13' }} /&gt;&#10;            &lt;Box style={{ width: 100, height: 53, background: '#5A0E13' }} /&gt;&#10;        &lt;/Box&gt;&#10;        &lt;Box style={{ height: 8 }} /&gt;&#10;        &lt;Box style={{ flexDirection: 'row', justifyContent: 'space-between' }}&gt;&#10;            &lt;Text style={{ fontSize: 15, color: '#808080', width: 100, textAlign: 'center' }}&gt;0 天&lt;/Text&gt;&#10;            &lt;Text style={{ fontSize: 15, color: '#808080', width: 100, textAlign: 'center' }}&gt;1 天&lt;/Text&gt;&#10;            &lt;Text style={{ fontSize: 15, color: '#808080', width: 100, textAlign: 'center' }}&gt;2 天&lt;/Text&gt;&#10;            &lt;Text style={{ fontSize: 15, color: '#808080', width: 100, textAlign: 'center' }}&gt;3 天&lt;/Text&gt;&#10;            &lt;Text style={{ fontSize: 15, color: '#808080', width: 100, textAlign: 'center' }}&gt;4 天&lt;/Text&gt;&#10;            &lt;Text style={{ fontSize: 15, color: '#808080', width: 100, textAlign: 'center' }}&gt;5 天&lt;/Text&gt;&#10;            &lt;Text style={{ fontSize: 15, color: '#808080', width: 100, textAlign: 'center' }}&gt;6 天&lt;/Text&gt;&#10;            &lt;Text style={{ fontSize: 15, color: '#808080', width: 100, textAlign: 'center' }}&gt;7 天&lt;/Text&gt;&#10;        &lt;/Box&gt;&#10;    &lt;/Box&gt;&#10;&#10;    &lt;Box&gt;&#10;        &lt;Box style={{ height: 1, background: '#44546A' }} /&gt;&#10;        &lt;Box style={{ height: 16 }} /&gt;&#10;        &lt;Box style={{ flexDirection: 'row', gap: 44 }}&gt;&#10;            &lt;Text style={{ fontSize: 16, color: '#808080' }}&gt;数据窗口 2016-09 ~ 2018-08&lt;/Text&gt;&#10;            &lt;Text style={{ fontSize: 16, color: '#808080' }}&gt;样本 72,164 单 / 2,589 家卖家 / 73 品类&lt;/Text&gt;&#10;            &lt;Text style={{ fontSize: 16, color: '#808080' }}&gt;汇报方 数据部 · P0 专项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08A6F6"/>
                </a:solidFill>
                <a:latin typeface="Microsoft YaHei"/>
                <a:ea typeface="Microsoft YaHei"/>
              </a:rPr>
              <a:t xml:space="preserve">OLIST </a:t>
            </a:r>
            <a:r>
              <a:rPr lang="zh-CN" sz="1500" spc="150">
                <a:solidFill>
                  <a:srgbClr val="08A6F6"/>
                </a:solidFill>
                <a:latin typeface="Microsoft YaHei"/>
                <a:ea typeface="Microsoft YaHei"/>
              </a:rPr>
              <a:t>电商平台</a:t>
            </a:r>
            <a:r>
              <a:rPr lang="en-US" sz="1500" spc="150">
                <a:solidFill>
                  <a:srgbClr val="08A6F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spc="150">
                <a:solidFill>
                  <a:srgbClr val="08A6F6"/>
                </a:solidFill>
                <a:latin typeface="Microsoft YaHei"/>
                <a:ea typeface="Microsoft YaHei"/>
              </a:rPr>
              <a:t>数据部专项分析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952500"/>
            <a:ext cx="11049000" cy="1133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6450" b="1">
                <a:solidFill>
                  <a:srgbClr val="FFFFFF"/>
                </a:solidFill>
                <a:latin typeface="Microsoft YaHei"/>
                <a:ea typeface="Microsoft YaHei"/>
              </a:rPr>
              <a:t>履约延迟治理专项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2085975"/>
            <a:ext cx="11049000" cy="1133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6450" b="1">
                <a:solidFill>
                  <a:srgbClr val="99BDED"/>
                </a:solidFill>
                <a:latin typeface="Microsoft YaHei"/>
                <a:ea typeface="Microsoft YaHei"/>
              </a:rPr>
              <a:t>数据部工作报告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3448050"/>
            <a:ext cx="11049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E7E6E6"/>
                </a:solidFill>
                <a:latin typeface="Microsoft YaHei"/>
                <a:ea typeface="Microsoft YaHei"/>
              </a:rPr>
              <a:t>从</a:t>
            </a:r>
            <a:r>
              <a:rPr lang="en-US" sz="1950">
                <a:solidFill>
                  <a:srgbClr val="E7E6E6"/>
                </a:solidFill>
                <a:latin typeface="Microsoft YaHei"/>
                <a:ea typeface="Microsoft YaHei"/>
              </a:rPr>
              <a:t xml:space="preserve"> 9.41% </a:t>
            </a:r>
            <a:r>
              <a:rPr lang="zh-CN" sz="1950">
                <a:solidFill>
                  <a:srgbClr val="E7E6E6"/>
                </a:solidFill>
                <a:latin typeface="Microsoft YaHei"/>
                <a:ea typeface="Microsoft YaHei"/>
              </a:rPr>
              <a:t>的延迟订单里，找回被拖垮的</a:t>
            </a:r>
            <a:r>
              <a:rPr lang="en-US" sz="1950">
                <a:solidFill>
                  <a:srgbClr val="E7E6E6"/>
                </a:solidFill>
                <a:latin typeface="Microsoft YaHei"/>
                <a:ea typeface="Microsoft YaHei"/>
              </a:rPr>
              <a:t xml:space="preserve"> 1.78 </a:t>
            </a:r>
            <a:r>
              <a:rPr lang="zh-CN" sz="1950">
                <a:solidFill>
                  <a:srgbClr val="E7E6E6"/>
                </a:solidFill>
                <a:latin typeface="Microsoft YaHei"/>
                <a:ea typeface="Microsoft YaHei"/>
              </a:rPr>
              <a:t>分评分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71500" y="3752850"/>
            <a:ext cx="1057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总体延迟率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571500" y="3924300"/>
            <a:ext cx="10572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>9.41%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181225" y="3752850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延迟单评分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181225" y="3924300"/>
            <a:ext cx="733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47B39"/>
                </a:solidFill>
                <a:latin typeface="Microsoft YaHei"/>
                <a:ea typeface="Microsoft YaHei"/>
              </a:rPr>
              <a:t>2.48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467100" y="3752850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准时单评分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467100" y="3924300"/>
            <a:ext cx="733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>4.26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752975" y="3752850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待清退卖家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752975" y="3924300"/>
            <a:ext cx="10858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132 </a:t>
            </a: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家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391275" y="3752850"/>
            <a:ext cx="92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承诺时效红线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391275" y="3924300"/>
            <a:ext cx="9239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8A6F6"/>
                </a:solidFill>
                <a:latin typeface="Microsoft YaHei"/>
                <a:ea typeface="Microsoft YaHei"/>
              </a:rPr>
              <a:t xml:space="preserve">≤1 </a:t>
            </a:r>
            <a:r>
              <a:rPr lang="zh-CN" sz="2700" b="1">
                <a:solidFill>
                  <a:srgbClr val="08A6F6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4343400"/>
            <a:ext cx="1104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延迟天数</a:t>
            </a:r>
            <a:r>
              <a:rPr lang="en-US" sz="1275">
                <a:solidFill>
                  <a:srgbClr val="99BDED"/>
                </a:solidFill>
                <a:latin typeface="Microsoft YaHei"/>
                <a:ea typeface="Microsoft YaHei"/>
              </a:rPr>
              <a:t xml:space="preserve"> ↑ → </a:t>
            </a: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平均评分</a:t>
            </a:r>
            <a:r>
              <a:rPr lang="en-US" sz="1275">
                <a:solidFill>
                  <a:srgbClr val="99BDED"/>
                </a:solidFill>
                <a:latin typeface="Microsoft YaHei"/>
                <a:ea typeface="Microsoft YaHei"/>
              </a:rPr>
              <a:t xml:space="preserve"> ↓</a:t>
            </a: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（延迟</a:t>
            </a:r>
            <a:r>
              <a:rPr lang="en-US" sz="1275">
                <a:solidFill>
                  <a:srgbClr val="99BDED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75">
                <a:solidFill>
                  <a:srgbClr val="99BDED"/>
                </a:solidFill>
                <a:latin typeface="Microsoft YaHei"/>
                <a:ea typeface="Microsoft YaHei"/>
              </a:rPr>
              <a:t>天起断崖式下跌）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71500" y="4657725"/>
            <a:ext cx="952500" cy="1238250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2009775" y="4743450"/>
            <a:ext cx="952500" cy="1152525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3457575" y="4829175"/>
            <a:ext cx="952500" cy="1066800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4895850" y="5029200"/>
            <a:ext cx="952500" cy="866775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6343650" y="5143500"/>
            <a:ext cx="952500" cy="752475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7781925" y="5200650"/>
            <a:ext cx="952500" cy="695325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9229725" y="5305425"/>
            <a:ext cx="952500" cy="59055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10668000" y="5391150"/>
            <a:ext cx="952500" cy="504825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2009775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457575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895850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343650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781925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9229725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668000" y="5972175"/>
            <a:ext cx="952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571500" y="6143625"/>
            <a:ext cx="11049000" cy="952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71500" y="6305550"/>
            <a:ext cx="206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数据窗口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2016-09 ~ 2018-08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057525" y="6305550"/>
            <a:ext cx="2771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样本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72,164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/ 2,589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家卖家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/ 73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品类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248400" y="630555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汇报方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数据部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P0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专项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6" name="" descr="&lt;Slide style={{&#10;    width: '1280px', height: '720px', background: '#FFFFFF',&#10;    padding: '44px 56px 28px 56px',&#10;}}&gt;&#10;    &lt;Text style={{ fontSize: 34, fontWeight: 'bold', color: '#061F32', lineHeight: 1.25 }}&gt;&#10;        本次汇报回答三个问题：有多痛、谁造成、怎么治&#10;    &lt;/Text&gt;&#10;    &lt;Box style={{ height: 1, background: '#061F32', marginTop: 10 }} /&gt;&#10;    &lt;Box style={{ height: 14 }} /&gt;&#10;&#10;    &lt;Box style={{ flexDirection: 'row', gap: 24, height: 470 }}&gt;&#10;        &lt;Box style={{ flex: 1, background: '#F5F5F5', borderTop: '4px solid #061F32', padding: '28px 26px' }}&gt;&#10;            &lt;Text style={{ fontSize: 72, fontWeight: 'bold', color: '#061F32', lineHeight: 1 }}&gt;01&lt;/Text&gt;&#10;            &lt;Box style={{ height: 18 }} /&gt;&#10;            &lt;Text style={{ fontSize: 24, fontWeight: 'bold', color: '#061F32', lineHeight: 1.4 }}&gt;&#10;                现状诊断&#10;            &lt;/Text&gt;&#10;            &lt;Box style={{ height: 14 }} /&gt;&#10;            &lt;Text style={{ fontSize: 18, color: '#44546A', lineHeight: 1.6 }}&gt;&#10;                延迟有多痛？用评分曲线证明延迟对口碑的边际杀伤，并给出可执行的承诺时效红线。&#10;            &lt;/Text&gt;&#10;            &lt;Box style={{ height: 20 }} /&gt;&#10;            &lt;Text style={{ fontSize: 15, color: '#808080' }}&gt;P04 – P07&lt;/Text&gt;&#10;        &lt;/Box&gt;&#10;&#10;        &lt;Box style={{ flex: 1, background: '#F5F5F5', borderTop: '4px solid #001965', padding: '28px 26px' }}&gt;&#10;            &lt;Text style={{ fontSize: 72, fontWeight: 'bold', color: '#001965', lineHeight: 1 }}&gt;02&lt;/Text&gt;&#10;            &lt;Box style={{ height: 18 }} /&gt;&#10;            &lt;Text style={{ fontSize: 24, fontWeight: 'bold', color: '#061F32', lineHeight: 1.4 }}&gt;&#10;                归因拆解&#10;            &lt;/Text&gt;&#10;            &lt;Box style={{ height: 14 }} /&gt;&#10;            &lt;Text style={{ fontSize: 18, color: '#44546A', lineHeight: 1.6 }}&gt;&#10;                谁造成延迟？把责任拆到 2,589 家卖家、73 个品类与 20 个发货州，落到具体名单。&#10;            &lt;/Text&gt;&#10;            &lt;Box style={{ height: 20 }} /&gt;&#10;            &lt;Text style={{ fontSize: 15, color: '#808080' }}&gt;P09 – P12&lt;/Text&gt;&#10;        &lt;/Box&gt;&#10;&#10;        &lt;Box style={{ flex: 1, background: '#F5F5F5', borderTop: '4px solid #5A0E13', padding: '28px 26px' }}&gt;&#10;            &lt;Text style={{ fontSize: 72, fontWeight: 'bold', color: '#5A0E13', lineHeight: 1 }}&gt;03&lt;/Text&gt;&#10;            &lt;Box style={{ height: 18 }} /&gt;&#10;            &lt;Text style={{ fontSize: 24, fontWeight: 'bold', color: '#061F32', lineHeight: 1.4 }}&gt;&#10;                治理方案&#10;            &lt;/Text&gt;&#10;            &lt;Box style={{ height: 14 }} /&gt;&#10;            &lt;Text style={{ fontSize: 18, color: '#44546A', lineHeight: 1.6 }}&gt;&#10;                怎么治？商家清退与约谈、承诺时效分位数模型改造，以及三周落地排期。&#10;            &lt;/Text&gt;&#10;            &lt;Box style={{ height: 20 }} /&gt;&#10;            &lt;Text style={{ fontSize: 15, color: '#808080' }}&gt;P14 – P16&lt;/Text&gt;&#10;        &lt;/Box&gt;&#10;    &lt;/Box&gt;&#10;&#10;    &lt;Box style={{ height: 12 }} /&gt;&#10;    &lt;Box style={{ flexDirection: 'row', justifyContent: 'space-between' }}&gt;&#10;        &lt;Text style={{ fontSize: 14, color: '#808080' }}&gt;&#10;            Source: db/olist.db；延迟率分析/processed_data/分级后总数据.csv（72,907 行）&#10;        &lt;/Text&gt;&#10;        &lt;Text style={{ fontSize: 14, color: '#808080' }}&gt;0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061F32"/>
                </a:solidFill>
                <a:latin typeface="Microsoft YaHei"/>
                <a:ea typeface="Microsoft YaHei"/>
              </a:rPr>
              <a:t>本次汇报回答三个问题：有多痛、谁造成、怎么治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33400" y="100012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533400" y="1181100"/>
            <a:ext cx="3552825" cy="4476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533400" y="1143000"/>
            <a:ext cx="3552825" cy="4514850"/>
          </a:xfrm>
          <a:custGeom>
            <a:pathLst>
              <a:path w="373" h="474">
                <a:moveTo>
                  <a:pt x="0" y="0"/>
                </a:moveTo>
                <a:lnTo>
                  <a:pt x="373" y="0"/>
                </a:lnTo>
                <a:lnTo>
                  <a:pt x="373" y="4"/>
                </a:lnTo>
                <a:lnTo>
                  <a:pt x="0" y="4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81050" y="1447800"/>
            <a:ext cx="30575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61F32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81050" y="2447925"/>
            <a:ext cx="3057525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现状诊断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81050" y="2971800"/>
            <a:ext cx="30575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延迟有多痛？用评分曲线证明延迟对口碑的边际杀伤，并给出可执行的承诺时效红线。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81050" y="4152900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P04 – P07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4314825" y="1181100"/>
            <a:ext cx="3562350" cy="4476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4314825" y="1143000"/>
            <a:ext cx="3562350" cy="4514850"/>
          </a:xfrm>
          <a:custGeom>
            <a:pathLst>
              <a:path w="374" h="474">
                <a:moveTo>
                  <a:pt x="0" y="0"/>
                </a:moveTo>
                <a:lnTo>
                  <a:pt x="374" y="0"/>
                </a:lnTo>
                <a:lnTo>
                  <a:pt x="374" y="4"/>
                </a:lnTo>
                <a:lnTo>
                  <a:pt x="0" y="4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562475" y="1447800"/>
            <a:ext cx="30670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0196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562475" y="2447925"/>
            <a:ext cx="306705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归因拆解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562475" y="2971800"/>
            <a:ext cx="306705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谁造成延迟？把责任拆到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 xml:space="preserve"> 2,589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家卖家、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 xml:space="preserve">73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个品类与</a:t>
            </a:r>
            <a:r>
              <a:rPr lang="en-US" sz="1350">
                <a:solidFill>
                  <a:srgbClr val="44546A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个发货州，落到具体名单。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562475" y="4152900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P09 – P12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105775" y="1181100"/>
            <a:ext cx="3552825" cy="44767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8105775" y="1143000"/>
            <a:ext cx="3552825" cy="4514850"/>
          </a:xfrm>
          <a:custGeom>
            <a:pathLst>
              <a:path w="373" h="474">
                <a:moveTo>
                  <a:pt x="0" y="0"/>
                </a:moveTo>
                <a:lnTo>
                  <a:pt x="373" y="0"/>
                </a:lnTo>
                <a:lnTo>
                  <a:pt x="373" y="4"/>
                </a:lnTo>
                <a:lnTo>
                  <a:pt x="0" y="4"/>
                </a:lnTo>
                <a:close/>
              </a:path>
            </a:pathLst>
          </a:custGeom>
          <a:solidFill>
            <a:srgbClr val="5A0E13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353425" y="1447800"/>
            <a:ext cx="30575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5A0E13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53425" y="2447925"/>
            <a:ext cx="3057525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治理方案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53425" y="2971800"/>
            <a:ext cx="30575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4546A"/>
                </a:solidFill>
                <a:latin typeface="Microsoft YaHei"/>
                <a:ea typeface="Microsoft YaHei"/>
              </a:rPr>
              <a:t>怎么治？商家清退与约谈、承诺时效分位数模型改造，以及三周落地排期。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353425" y="3829050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P14 – P16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33400" y="5734050"/>
            <a:ext cx="500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Source: db/olist.db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；延迟率分析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/processed_data/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分级后总数据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.csv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72,907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行）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496675" y="573405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60" name="" descr="&lt;Slide style={{&#10;    width: '1280px', height: '720px', background: '#062032',&#10;    padding: '50px 60px 50px 60px',&#10;    justifyContent: 'flex-start',&#10;}}&gt;&#10;    &lt;Box style={{ flexDirection: 'row', height: 490 }}&gt;&#10;        &lt;Box style={{ width: 340, alignItems: 'flex-start', justifyContent: 'center' }}&gt;&#10;            &lt;Text style={{ fontSize: 250, fontWeight: 'bold', color: '#FFFFFF', opacity: 0.18, lineHeight: 1 }}&gt;01&lt;/Text&gt;&#10;        &lt;/Box&gt;&#10;        &lt;Box style={{ width: 800, justifyContent: 'space-between' }}&gt;&#10;            &lt;Box&gt;&#10;                &lt;Text style={{ fontSize: 56, fontWeight: 'bold', color: '#FFFFFF', lineHeight: 1.2 }}&gt;&#10;                    现状诊断&#10;                &lt;/Text&gt;&#10;                &lt;Box style={{ height: 20 }} /&gt;&#10;                &lt;Text style={{ fontSize: 32, color: '#E7E6E6', lineHeight: 1.4 }}&gt;&#10;                    延迟正在系统性摧毁口碑&#10;                &lt;/Text&gt;&#10;                &lt;Box style={{ height: 26 }} /&gt;&#10;                &lt;Text style={{ fontSize: 20, color: '#808080', lineHeight: 1.4 }}&gt;&#10;                    DIAGNOSIS · DELAY IS SYSTEMATICALLY DESTROYING OUR RATINGS&#10;                &lt;/Text&gt;&#10;            &lt;/Box&gt;&#10;            &lt;Box&gt;&#10;                &lt;Text style={{ fontSize: 22, color: '#E7E6E6', lineHeight: 1.5 }}&gt;&#10;                    总体延迟率 9.41%，涉及 6,858 单&#10;                &lt;/Text&gt;&#10;                &lt;Box style={{ height: 12 }} /&gt;&#10;                &lt;Text style={{ fontSize: 22, color: '#E7E6E6', lineHeight: 1.5 }}&gt;&#10;                    延迟 4-5 天，平均评分从 4.26 断崖至 2.54&#10;                &lt;/Text&gt;&#10;                &lt;Box style={{ height: 12 }} /&gt;&#10;                &lt;Text style={{ fontSize: 22, color: '#E7E6E6', lineHeight: 1.5 }}&gt;&#10;                    延迟 6 天以上，评分全部落在 1.9 以下&#10;                &lt;/Text&gt;&#10;                &lt;Box style={{ height: 12 }} /&gt;&#10;                &lt;Text style={{ fontSize: 22, color: '#E7E6E6', lineHeight: 1.5 }}&gt;&#10;                    距离从 100km 内到 1000km 外，超时率 6.9% → 16.2%&#10;                &lt;/Text&gt;&#10;                &lt;Box style={{ height: 12 }} /&gt;&#10;                &lt;Text style={{ fontSize: 22, color: '#F47B39', lineHeight: 1.5 }}&gt;&#10;                    结论：承诺时效红线应设为实际延迟 ≤ 1 天&#10;                &lt;/Text&gt;&#10;            &lt;/Box&gt;&#10;        &lt;/Box&gt;&#10;    &lt;/Box&gt;&#10;    &lt;Box style={{ height: 36 }} /&gt;&#10;    &lt;Text style={{ fontSize: 20, color: '#808080' }}&gt;&#10;        本章交付：评分塌陷曲线 · 承诺时效红线 · 四维归因显著性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810000" y="476250"/>
            <a:ext cx="76200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现状诊断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810000" y="1438275"/>
            <a:ext cx="76200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400">
                <a:solidFill>
                  <a:srgbClr val="E7E6E6"/>
                </a:solidFill>
                <a:latin typeface="Microsoft YaHei"/>
                <a:ea typeface="Microsoft YaHei"/>
              </a:rPr>
              <a:t>延迟正在系统性摧毁口碑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810000" y="2200275"/>
            <a:ext cx="7620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DIAGNOSIS · DELAY IS SYSTEMATICALLY DESTROYING OUR RATINGS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10000" y="278130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总体延迟率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9.41%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，涉及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6,858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810000" y="327660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延迟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4-5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天，平均评分从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4.26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断崖至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2.54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810000" y="377190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延迟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天以上，评分全部落在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1.9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以下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3810000" y="426720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距离从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100km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内到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1000km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外，超时率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6.9% → 16.2%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810000" y="476250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47B39"/>
                </a:solidFill>
                <a:latin typeface="Microsoft YaHei"/>
                <a:ea typeface="Microsoft YaHei"/>
              </a:rPr>
              <a:t>结论：承诺时效红线应设为实际延迟</a:t>
            </a:r>
            <a:r>
              <a:rPr lang="en-US" sz="1650">
                <a:solidFill>
                  <a:srgbClr val="F47B39"/>
                </a:solidFill>
                <a:latin typeface="Microsoft YaHei"/>
                <a:ea typeface="Microsoft YaHei"/>
              </a:rPr>
              <a:t xml:space="preserve"> ≤ 1 </a:t>
            </a:r>
            <a:r>
              <a:rPr lang="zh-CN" sz="1650">
                <a:solidFill>
                  <a:srgbClr val="F47B39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548640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本章交付：评分塌陷曲线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承诺时效红线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四维归因显著性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71500" y="1381125"/>
            <a:ext cx="2943225" cy="2857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0" b="1">
                <a:solidFill>
                  <a:srgbClr val="FFFFFF">
                    <a:alpha val="1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72" name="" descr="&lt;Slide style={{&#10;    width: '1280px', height: '720px', background: '#FFFFFF',&#10;    padding: '44px 56px 28px 56px',&#10;}}&gt;&#10;    &lt;Text style={{ fontSize: 32, fontWeight: 'bold', color: '#061F32' }}&gt;&#10;        延迟天数每多 2 天，评分掉一档；超过 4 天直接崩到 2 星区间&#10;    &lt;/Text&gt;&#10;    &lt;Text style={{ fontSize: 18, color: '#808080', marginTop: 8 }}&gt;&#10;        样本：6,858 单超时订单（占 72,907 单样本的 9.41%），按时实际延迟天数分箱统计平均评分&#10;    &lt;/Text&gt;&#10;    &lt;Box style={{ height: 1, background: '#061F32', marginTop: 12 }} /&gt;&#10;    &lt;Box style={{ height: 18 }} /&gt;&#10;&#10;    &lt;Box style={{ flexDirection: 'row', gap: 22, height: 330, alignItems: 'flex-end' }}&gt;&#10;        &lt;Box style={{ width: 140, justifyContent: 'flex-end' }}&gt;&#10;            &lt;Text style={{ fontSize: 22, fontWeight: 'bold', color: '#001965', textAlign: 'center' }}&gt;4.02&lt;/Text&gt;&#10;            &lt;Box style={{ height: 8 }} /&gt;&#10;            &lt;Box style={{ height: 209, background: '#001965' }} /&gt;&#10;        &lt;/Box&gt;&#10;        &lt;Box style={{ width: 140, justifyContent: 'flex-end' }}&gt;&#10;            &lt;Text style={{ fontSize: 22, fontWeight: 'bold', color: '#001965', textAlign: 'center' }}&gt;3.47&lt;/Text&gt;&#10;            &lt;Box style={{ height: 8 }} /&gt;&#10;            &lt;Box style={{ height: 180, background: '#0A4FA0' }} /&gt;&#10;        &lt;/Box&gt;&#10;        &lt;Box style={{ width: 140, justifyContent: 'flex-end' }}&gt;&#10;            &lt;Text style={{ fontSize: 22, fontWeight: 'bold', color: '#F47B39', textAlign: 'center' }}&gt;2.54&lt;/Text&gt;&#10;            &lt;Box style={{ height: 8 }} /&gt;&#10;            &lt;Box style={{ height: 132, background: '#F47B39' }} /&gt;&#10;        &lt;/Box&gt;&#10;        &lt;Box style={{ width: 140, justifyContent: 'flex-end' }}&gt;&#10;            &lt;Text style={{ fontSize: 22, fontWeight: 'bold', color: '#C0392B', textAlign: 'center' }}&gt;1.91&lt;/Text&gt;&#10;            &lt;Box style={{ height: 8 }} /&gt;&#10;            &lt;Box style={{ height: 99, background: '#C0392B' }} /&gt;&#10;        &lt;/Box&gt;&#10;        &lt;Box style={{ width: 140, justifyContent: 'flex-end' }}&gt;&#10;            &lt;Text style={{ fontSize: 22, fontWeight: 'bold', color: '#5A0E13', textAlign: 'center' }}&gt;1.70&lt;/Text&gt;&#10;            &lt;Box style={{ height: 8 }} /&gt;&#10;            &lt;Box style={{ height: 88, background: '#5A0E13' }} /&gt;&#10;        &lt;/Box&gt;&#10;        &lt;Box style={{ width: 140, justifyContent: 'flex-end' }}&gt;&#10;            &lt;Text style={{ fontSize: 22, fontWeight: 'bold', color: '#5A0E13', textAlign: 'center' }}&gt;1.57&lt;/Text&gt;&#10;            &lt;Box style={{ height: 8 }} /&gt;&#10;            &lt;Box style={{ height: 82, background: '#5A0E13' }} /&gt;&#10;        &lt;/Box&gt;&#10;        &lt;Box style={{ width: 140, justifyContent: 'flex-end' }}&gt;&#10;            &lt;Text style={{ fontSize: 22, fontWeight: 'bold', color: '#5A0E13', textAlign: 'center' }}&gt;1.57&lt;/Text&gt;&#10;            &lt;Box style={{ height: 8 }} /&gt;&#10;            &lt;Box style={{ height: 82, background: '#5A0E13' }} /&gt;&#10;        &lt;/Box&gt;&#10;    &lt;/Box&gt;&#10;&#10;    &lt;Box style={{ flexDirection: 'row', gap: 22 }}&gt;&#10;        &lt;Text style={{ fontSize: 16, color: '#44546A', width: 140, textAlign: 'center' }}&gt;≤1 天&lt;/Text&gt;&#10;        &lt;Text style={{ fontSize: 16, color: '#44546A', width: 140, textAlign: 'center' }}&gt;2-3 天&lt;/Text&gt;&#10;        &lt;Text style={{ fontSize: 16, color: '#44546A', width: 140, textAlign: 'center' }}&gt;4-5 天&lt;/Text&gt;&#10;        &lt;Text style={{ fontSize: 16, color: '#44546A', width: 140, textAlign: 'center' }}&gt;6-7 天&lt;/Text&gt;&#10;        &lt;Text style={{ fontSize: 16, color: '#44546A', width: 140, textAlign: 'center' }}&gt;8-10 天&lt;/Text&gt;&#10;        &lt;Text style={{ fontSize: 16, color: '#44546A', width: 140, textAlign: 'center' }}&gt;11-15 天&lt;/Text&gt;&#10;        &lt;Text style={{ fontSize: 16, color: '#44546A', width: 140, textAlign: 'center' }}&gt;15 天+&lt;/Text&gt;&#10;    &lt;/Box&gt;&#10;    &lt;Box style={{ flexDirection: 'row', gap: 22 }}&gt;&#10;        &lt;Text style={{ fontSize: 14, color: '#808080', width: 140, textAlign: 'center' }}&gt;1,134 单&lt;/Text&gt;&#10;        &lt;Text style={{ fontSize: 14, color: '#808080', width: 140, textAlign: 'center' }}&gt;1,200 单&lt;/Text&gt;&#10;        &lt;Text style={{ fontSize: 14, color: '#808080', width: 140, textAlign: 'center' }}&gt;841 单&lt;/Text&gt;&#10;        &lt;Text style={{ fontSize: 14, color: '#808080', width: 140, textAlign: 'center' }}&gt;754 单&lt;/Text&gt;&#10;        &lt;Text style={{ fontSize: 14, color: '#808080', width: 140, textAlign: 'center' }}&gt;920 单&lt;/Text&gt;&#10;        &lt;Text style={{ fontSize: 14, color: '#808080', width: 140, textAlign: 'center' }}&gt;806 单&lt;/Text&gt;&#10;        &lt;Text style={{ fontSize: 14, color: '#808080', width: 140, textAlign: 'center' }}&gt;1,203 单&lt;/Text&gt;&#10;    &lt;/Box&gt;&#10;&#10;    &lt;Box style={{ height: 1, background: '#D9D9D9', marginTop: 22 }} /&gt;&#10;    &lt;Box style={{ height: 16 }} /&gt;&#10;    &lt;Box style={{ flexDirection: 'row', gap: 30 }}&gt;&#10;        &lt;Box style={{ flex: 1, background: '#F5F5F5', borderLeft: '4px solid #F47B39', padding: '16px 20px' }}&gt;&#10;            &lt;Text style={{ fontSize: 19, fontWeight: 'bold', color: '#061F32' }}&gt;容忍窗口只有 1 天&lt;/Text&gt;&#10;            &lt;Text style={{ fontSize: 16, color: '#44546A', lineHeight: 1.5, marginTop: 6 }}&gt;&#10;                延迟 ≤1 天评分 4.02，仅比准时单（4.26）低 0.24 分，客户基本不感知。&#10;            &lt;/Text&gt;&#10;        &lt;/Box&gt;&#10;        &lt;Box style={{ flex: 1, background: '#F5F5F5', borderLeft: '4px solid #C0392B', padding: '16px 20px' }}&gt;&#10;            &lt;Text style={{ fontSize: 19, fontWeight: 'bold', color: '#061F32' }}&gt;4 天是不可逆断点&lt;/Text&gt;&#10;            &lt;Text style={{ fontSize: 16, color: '#44546A', lineHeight: 1.5, marginTop: 6 }}&gt;&#10;                延迟 4-5 天评分 2.54，跌破 3 星；6 天以上全部落在 1.5-1.9，等于永久流失。&#10;            &lt;/Text&gt;&#10;        &lt;/Box&gt;&#10;        &lt;Box style={{ flex: 1, background: '#F5F5F5', borderLeft: '4px solid #001965', padding: '16px 20px' }}&gt;&#10;            &lt;Text style={{ fontSize: 19, fontWeight: 'bold', color: '#061F32' }}&gt;红线建议&lt;/Text&gt;&#10;            &lt;Text style={{ fontSize: 16, color: '#44546A', lineHeight: 1.5, marginTop: 6 }}&gt;&#10;                对外承诺时效按「实际延迟 ≤1 天」倒推设置，而非按平均值 12.7 天拍脑袋。&#10;            &lt;/Text&gt;&#10;        &lt;/Box&gt;&#10;    &lt;/Box&gt;&#10;&#10;    &lt;Box style={{ height: 12 }} /&gt;&#10;    &lt;Text style={{ fontSize: 13, color: '#808080' }}&gt;Source: 延迟率分析/processed_data/分级后总数据.csv　|　04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延迟天数每多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天，评分掉一档；超过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天直接崩到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星区间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33400" y="866775"/>
            <a:ext cx="1112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样本：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 xml:space="preserve">6,858 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单超时订单（占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 xml:space="preserve"> 72,907 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单样本的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 xml:space="preserve"> 9.41%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），按时实际延迟天数分箱统计平均评分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33400" y="119062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33400" y="2190750"/>
            <a:ext cx="13335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4.02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33400" y="2524125"/>
            <a:ext cx="1333500" cy="1990725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2076450" y="2466975"/>
            <a:ext cx="13335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>3.47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2076450" y="2800350"/>
            <a:ext cx="1333500" cy="1714500"/>
          </a:xfrm>
          <a:prstGeom prst="rect">
            <a:avLst/>
          </a:prstGeom>
          <a:solidFill>
            <a:srgbClr val="0A4FA0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619500" y="2924175"/>
            <a:ext cx="13335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F47B39"/>
                </a:solidFill>
                <a:latin typeface="Microsoft YaHei"/>
                <a:ea typeface="Microsoft YaHei"/>
              </a:rPr>
              <a:t>2.54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619500" y="3257550"/>
            <a:ext cx="1333500" cy="125730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162550" y="3238500"/>
            <a:ext cx="13335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C0392B"/>
                </a:solidFill>
                <a:latin typeface="Microsoft YaHei"/>
                <a:ea typeface="Microsoft YaHei"/>
              </a:rPr>
              <a:t>1.91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162550" y="3571875"/>
            <a:ext cx="1333500" cy="942975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705600" y="3343275"/>
            <a:ext cx="13335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5A0E13"/>
                </a:solidFill>
                <a:latin typeface="Microsoft YaHei"/>
                <a:ea typeface="Microsoft YaHei"/>
              </a:rPr>
              <a:t>1.70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705600" y="3676650"/>
            <a:ext cx="1333500" cy="83820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248650" y="3400425"/>
            <a:ext cx="13335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5A0E13"/>
                </a:solidFill>
                <a:latin typeface="Microsoft YaHei"/>
                <a:ea typeface="Microsoft YaHei"/>
              </a:rPr>
              <a:t>1.57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8248650" y="3733800"/>
            <a:ext cx="1333500" cy="78105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791700" y="3400425"/>
            <a:ext cx="13335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 b="1">
                <a:solidFill>
                  <a:srgbClr val="5A0E13"/>
                </a:solidFill>
                <a:latin typeface="Microsoft YaHei"/>
                <a:ea typeface="Microsoft YaHei"/>
              </a:rPr>
              <a:t>1.57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9791700" y="3733800"/>
            <a:ext cx="1333500" cy="78105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33400" y="451485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≤1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2076450" y="451485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2-3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619500" y="451485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4-5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162550" y="451485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6-7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705600" y="451485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8-10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248650" y="451485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11-15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791700" y="4514850"/>
            <a:ext cx="13335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1,134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2076450" y="4705350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1,200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619500" y="4705350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841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162550" y="4705350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754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705600" y="4705350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920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248650" y="4705350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806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791700" y="4705350"/>
            <a:ext cx="13335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 xml:space="preserve">1,203 </a:t>
            </a:r>
            <a:r>
              <a:rPr lang="zh-CN" sz="105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33400" y="5076825"/>
            <a:ext cx="111252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571500" y="5238750"/>
            <a:ext cx="3514725" cy="11334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533400" y="5238750"/>
            <a:ext cx="3552825" cy="1133475"/>
          </a:xfrm>
          <a:custGeom>
            <a:pathLst>
              <a:path w="373" h="119">
                <a:moveTo>
                  <a:pt x="0" y="0"/>
                </a:moveTo>
                <a:lnTo>
                  <a:pt x="4" y="0"/>
                </a:lnTo>
                <a:lnTo>
                  <a:pt x="4" y="119"/>
                </a:lnTo>
                <a:lnTo>
                  <a:pt x="0" y="119"/>
                </a:lnTo>
                <a:close/>
              </a:path>
            </a:pathLst>
          </a:custGeom>
          <a:solidFill>
            <a:srgbClr val="F47B39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62000" y="5391150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容忍窗口只有</a:t>
            </a:r>
            <a:r>
              <a:rPr lang="en-US" sz="1425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62000" y="5667375"/>
            <a:ext cx="30956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延迟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≤1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天评分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4.02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，仅比准时单（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4.26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）低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0.24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分，客户基本不感知。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371975" y="5238750"/>
            <a:ext cx="3524250" cy="11334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4333875" y="5238750"/>
            <a:ext cx="3562350" cy="1133475"/>
          </a:xfrm>
          <a:custGeom>
            <a:pathLst>
              <a:path w="374" h="119">
                <a:moveTo>
                  <a:pt x="0" y="0"/>
                </a:moveTo>
                <a:lnTo>
                  <a:pt x="4" y="0"/>
                </a:lnTo>
                <a:lnTo>
                  <a:pt x="4" y="119"/>
                </a:lnTo>
                <a:lnTo>
                  <a:pt x="0" y="119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562475" y="5391150"/>
            <a:ext cx="3105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天是不可逆断点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562475" y="5667375"/>
            <a:ext cx="31051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延迟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4-5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天评分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2.54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，跌破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星；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天以上全部落在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1.5-1.9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，等于永久流失。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8181975" y="5238750"/>
            <a:ext cx="3514725" cy="11334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8143875" y="5238750"/>
            <a:ext cx="3552825" cy="1133475"/>
          </a:xfrm>
          <a:custGeom>
            <a:pathLst>
              <a:path w="373" h="119">
                <a:moveTo>
                  <a:pt x="0" y="0"/>
                </a:moveTo>
                <a:lnTo>
                  <a:pt x="4" y="0"/>
                </a:lnTo>
                <a:lnTo>
                  <a:pt x="4" y="119"/>
                </a:lnTo>
                <a:lnTo>
                  <a:pt x="0" y="119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72475" y="5391150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红线建议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372475" y="5667375"/>
            <a:ext cx="30956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对外承诺时效按「实际延迟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≤1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天」倒推设置，而非按平均值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12.7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天拍脑袋。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33400" y="6486525"/>
            <a:ext cx="1112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 xml:space="preserve">Source: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延迟率分析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/processed_data/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分级后总数据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.csv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19" name="" descr="&lt;Slide style={{&#10;    width: '1280px', height: '720px', background: '#FFFFFF',&#10;    padding: '44px 56px 28px 56px',&#10;}}&gt;&#10;    &lt;Text style={{ fontSize: 32, fontWeight: 'bold', color: '#061F32' }}&gt;&#10;        距离越远越容易超时：2,000 公里以上超时率 16.2%，是 100 公里内的 2.3 倍&#10;    &lt;/Text&gt;&#10;    &lt;Text style={{ fontSize: 18, color: '#808080', marginTop: 8 }}&gt;&#10;        左：按买卖双方直线距离分箱的超时率与评分　|　右：订单量 ≥800 单的收货州超时率排名&#10;    &lt;/Text&gt;&#10;    &lt;Box style={{ height: 1, background: '#061F32', marginTop: 12 }} /&gt;&#10;    &lt;Box style={{ height: 20 }} /&gt;&#10;&#10;    &lt;Box style={{ flexDirection: 'row', gap: 34, height: 400 }}&gt;&#10;        &lt;Box style={{ flex: 1 }}&gt;&#10;            &lt;Text style={{ fontSize: 20, fontWeight: 'bold', color: '#061F32' }}&gt;距离 · 超时率&lt;/Text&gt;&#10;            &lt;Box style={{ height: 14 }} /&gt;&#10;            &lt;Box style={{ flexDirection: 'column', gap: 14 }}&gt;&#10;                &lt;Box style={{ flexDirection: 'row', alignItems: 'center', gap: 12 }}&gt;&#10;                    &lt;Text style={{ fontSize: 15, color: '#44546A', width: 96 }}&gt;100km 内&lt;/Text&gt;&#10;                    &lt;Box style={{ width: 110, height: 22, background: '#001965' }} /&gt;&#10;                    &lt;Text style={{ fontSize: 16, color: '#061F32' }}&gt;6.9%　评分 4.24&lt;/Text&gt;&#10;                &lt;/Box&gt;&#10;                &lt;Box style={{ flexDirection: 'row', alignItems: 'center', gap: 12 }}&gt;&#10;                    &lt;Text style={{ fontSize: 15, color: '#44546A', width: 96 }}&gt;100-500km&lt;/Text&gt;&#10;                    &lt;Box style={{ width: 134, height: 22, background: '#0A4FA0' }} /&gt;&#10;                    &lt;Text style={{ fontSize: 16, color: '#061F32' }}&gt;8.4%　评分 4.13&lt;/Text&gt;&#10;                &lt;/Box&gt;&#10;                &lt;Box style={{ flexDirection: 'row', alignItems: 'center', gap: 12 }}&gt;&#10;                    &lt;Text style={{ fontSize: 15, color: '#44546A', width: 96 }}&gt;500-1000km&lt;/Text&gt;&#10;                    &lt;Box style={{ width: 161, height: 22, background: '#2E75B6' }} /&gt;&#10;                    &lt;Text style={{ fontSize: 16, color: '#061F32' }}&gt;10.1%　评分 4.05&lt;/Text&gt;&#10;                &lt;/Box&gt;&#10;                &lt;Box style={{ flexDirection: 'row', alignItems: 'center', gap: 12 }}&gt;&#10;                    &lt;Text style={{ fontSize: 15, color: '#44546A', width: 96 }}&gt;1000-1500km&lt;/Text&gt;&#10;                    &lt;Box style={{ width: 193, height: 22, background: '#F47B39' }} /&gt;&#10;                    &lt;Text style={{ fontSize: 16, color: '#061F32' }}&gt;12.1%　评分 3.96&lt;/Text&gt;&#10;                &lt;/Box&gt;&#10;                &lt;Box style={{ flexDirection: 'row', alignItems: 'center', gap: 12 }}&gt;&#10;                    &lt;Text style={{ fontSize: 15, color: '#44546A', width: 96 }}&gt;1500-2000km&lt;/Text&gt;&#10;                    &lt;Box style={{ width: 212, height: 22, background: '#C0392B' }} /&gt;&#10;                    &lt;Text style={{ fontSize: 16, color: '#061F32' }}&gt;13.3%　评分 4.01&lt;/Text&gt;&#10;                &lt;/Box&gt;&#10;                &lt;Box style={{ flexDirection: 'row', alignItems: 'center', gap: 12 }}&gt;&#10;                    &lt;Text style={{ fontSize: 15, color: '#44546A', width: 96 }}&gt;2000km+&lt;/Text&gt;&#10;                    &lt;Box style={{ width: 258, height: 22, background: '#5A0E13' }} /&gt;&#10;                    &lt;Text style={{ fontSize: 16, fontWeight: 'bold', color: '#5A0E13' }}&gt;16.2%　评分 3.87&lt;/Text&gt;&#10;                &lt;/Box&gt;&#10;            &lt;/Box&gt;&#10;        &lt;/Box&gt;&#10;&#10;        &lt;Box style={{ width: 1, background: '#D9D9D9' }} /&gt;&#10;&#10;        &lt;Box style={{ flex: 1 }}&gt;&#10;            &lt;Text style={{ fontSize: 20, fontWeight: 'bold', color: '#061F32' }}&gt;收货州 · 超时率&lt;/Text&gt;&#10;            &lt;Box style={{ height: 14 }} /&gt;&#10;            &lt;Box style={{ flexDirection: 'column', gap: 14 }}&gt;&#10;                &lt;Box style={{ flexDirection: 'row', alignItems: 'center', gap: 12 }}&gt;&#10;                    &lt;Text style={{ fontSize: 15, color: '#44546A', width: 60 }}&gt;CE&lt;/Text&gt;&#10;                    &lt;Box style={{ width: 275, height: 22, background: '#5A0E13' }} /&gt;&#10;                    &lt;Text style={{ fontSize: 16, fontWeight: 'bold', color: '#5A0E13' }}&gt;19.1%&lt;/Text&gt;&#10;                &lt;/Box&gt;&#10;                &lt;Box style={{ flexDirection: 'row', alignItems: 'center', gap: 12 }}&gt;&#10;                    &lt;Text style={{ fontSize: 15, color: '#44546A', width: 60 }}&gt;RJ&lt;/Text&gt;&#10;                    &lt;Box style={{ width: 240, height: 22, background: '#C0392B' }} /&gt;&#10;                    &lt;Text style={{ fontSize: 16, color: '#061F32' }}&gt;16.7%　9,222 单&lt;/Text&gt;&#10;                &lt;/Box&gt;&#10;                &lt;Box style={{ flexDirection: 'row', alignItems: 'center', gap: 12 }}&gt;&#10;                    &lt;Text style={{ fontSize: 15, color: '#44546A', width: 60 }}&gt;BA&lt;/Text&gt;&#10;                    &lt;Box style={{ width: 233, height: 22, background: '#C0392B' }} /&gt;&#10;                    &lt;Text style={{ fontSize: 16, color: '#061F32' }}&gt;16.2%　2,439 单&lt;/Text&gt;&#10;                &lt;/Box&gt;&#10;                &lt;Box style={{ flexDirection: 'row', alignItems: 'center', gap: 12 }}&gt;&#10;                    &lt;Text style={{ fontSize: 15, color: '#44546A', width: 60 }}&gt;ES&lt;/Text&gt;&#10;                    &lt;Box style={{ width: 210, height: 22, background: '#F47B39' }} /&gt;&#10;                    &lt;Text style={{ fontSize: 16, color: '#061F32' }}&gt;14.6%&lt;/Text&gt;&#10;                &lt;/Box&gt;&#10;                &lt;Box style={{ flexDirection: 'row', alignItems: 'center', gap: 12 }}&gt;&#10;                    &lt;Text style={{ fontSize: 15, color: '#44546A', width: 60 }}&gt;PE&lt;/Text&gt;&#10;                    &lt;Box style={{ width: 161, height: 22, background: '#F47B39' }} /&gt;&#10;                    &lt;Text style={{ fontSize: 16, color: '#061F32' }}&gt;11.2%&lt;/Text&gt;&#10;                &lt;/Box&gt;&#10;                &lt;Box style={{ flexDirection: 'row', alignItems: 'center', gap: 12 }}&gt;&#10;                    &lt;Text style={{ fontSize: 15, color: '#44546A', width: 60 }}&gt;SP&lt;/Text&gt;&#10;                    &lt;Box style={{ width: 94, height: 22, background: '#001965' }} /&gt;&#10;                    &lt;Text style={{ fontSize: 16, color: '#061F32' }}&gt;6.5%　31,361 单&lt;/Text&gt;&#10;                &lt;/Box&gt;&#10;                &lt;Box style={{ flexDirection: 'row', alignItems: 'center', gap: 12 }}&gt;&#10;                    &lt;Text style={{ fontSize: 15, color: '#44546A', width: 60 }}&gt;PR&lt;/Text&gt;&#10;                    &lt;Box style={{ width: 88, height: 22, background: '#001965' }} /&gt;&#10;                    &lt;Text style={{ fontSize: 16, color: '#061F32' }}&gt;6.1%&lt;/Text&gt;&#10;                &lt;/Box&gt;&#10;            &lt;/Box&gt;&#10;        &lt;/Box&gt;&#10;    &lt;/Box&gt;&#10;&#10;    &lt;Box style={{ height: 1, background: '#D9D9D9' }} /&gt;&#10;    &lt;Box style={{ height: 16 }} /&gt;&#10;    &lt;Box style={{ flexDirection: 'row', gap: 30 }}&gt;&#10;        &lt;Box style={{ flex: 1 }}&gt;&#10;            &lt;Text style={{ fontSize: 19, fontWeight: 'bold', color: '#061F32' }}&gt;距离是真凶，但不是唯一&lt;/Text&gt;&#10;            &lt;Text style={{ fontSize: 16, color: '#44546A', lineHeight: 1.5, marginTop: 6 }}&gt;&#10;                每跨 500 公里超时率抬升约 1.5-2 个百分点，评分同步下行 0.1 分。&#10;            &lt;/Text&gt;&#10;        &lt;/Box&gt;&#10;        &lt;Box style={{ flex: 1 }}&gt;&#10;            &lt;Text style={{ fontSize: 19, fontWeight: 'bold', color: '#061F32' }}&gt;东北/北部州是重灾区&lt;/Text&gt;&#10;            &lt;Text style={{ fontSize: 16, color: '#44546A', lineHeight: 1.5, marginTop: 6 }}&gt;&#10;                CE、BA、PE 远离 SP 卖家集群；RJ 单量大却 16.7%，是总量损失最大的州。&#10;            &lt;/Text&gt;&#10;        &lt;/Box&gt;&#10;        &lt;Box style={{ flex: 1 }}&gt;&#10;            &lt;Text style={{ fontSize: 19, fontWeight: 'bold', color: '#061F32' }}&gt;动作&lt;/Text&gt;&#10;            &lt;Text style={{ fontSize: 16, color: '#44546A', lineHeight: 1.5, marginTop: 6 }}&gt;&#10;                远距离州承诺时效单独加 2-3 天，或建立区域前置仓，别用全国一套时效。&#10;            &lt;/Text&gt;&#10;        &lt;/Box&gt;&#10;    &lt;/Box&gt;&#10;    &lt;Box style={{ height: 10 }} /&gt;&#10;    &lt;Text style={{ fontSize: 13, color: '#808080' }}&gt;Source: 分级后总数据.csv（72,907 单，含经纬度直线距离）　|　05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距离越远越容易超时：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2,000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公里以上超时率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16.2%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，是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公里内的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2.3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33400" y="866775"/>
            <a:ext cx="1112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左：按买卖双方直线距离分箱的超时率与评分　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　右：订单量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 xml:space="preserve"> ≥800 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单的收货州超时率排名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33400" y="119062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33400" y="1390650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Microsoft YaHei"/>
                <a:ea typeface="Microsoft YaHei"/>
              </a:rPr>
              <a:t>距离</a:t>
            </a:r>
            <a:r>
              <a:rPr lang="en-US" sz="15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61F32"/>
                </a:solidFill>
                <a:latin typeface="Microsoft YaHei"/>
                <a:ea typeface="Microsoft YaHei"/>
              </a:rPr>
              <a:t>超时率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33400" y="17716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100km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内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1562100" y="1752600"/>
            <a:ext cx="1047750" cy="209550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724150" y="1762125"/>
            <a:ext cx="116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6.9%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4.24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533400" y="21145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100-500km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1562100" y="2095500"/>
            <a:ext cx="1276350" cy="209550"/>
          </a:xfrm>
          <a:prstGeom prst="rect">
            <a:avLst/>
          </a:prstGeom>
          <a:solidFill>
            <a:srgbClr val="0A4FA0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952750" y="2105025"/>
            <a:ext cx="116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8.4%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4.13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33400" y="24574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500-1000km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1562100" y="2438400"/>
            <a:ext cx="1533525" cy="20955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3209925" y="2447925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10.1%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4.05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33400" y="28003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1000-1500km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1562100" y="2781300"/>
            <a:ext cx="1838325" cy="20955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514725" y="2790825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12.1%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3.96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33400" y="31432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1500-2000km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562100" y="3124200"/>
            <a:ext cx="2019300" cy="20955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695700" y="3133725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13.3%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4.01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33400" y="3486150"/>
            <a:ext cx="91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2000km+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1562100" y="3467100"/>
            <a:ext cx="2457450" cy="20955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133850" y="34766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>16.2%</a:t>
            </a:r>
            <a:r>
              <a:rPr lang="zh-CN" sz="1200" b="1">
                <a:solidFill>
                  <a:srgbClr val="5A0E13"/>
                </a:solidFill>
                <a:latin typeface="Microsoft YaHei"/>
                <a:ea typeface="Microsoft YaHei"/>
              </a:rPr>
              <a:t>　评分</a:t>
            </a: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 3.87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0" y="1390650"/>
            <a:ext cx="9525" cy="38100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429375" y="1390650"/>
            <a:ext cx="522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Microsoft YaHei"/>
                <a:ea typeface="Microsoft YaHei"/>
              </a:rPr>
              <a:t>收货州</a:t>
            </a:r>
            <a:r>
              <a:rPr lang="en-US" sz="15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61F32"/>
                </a:solidFill>
                <a:latin typeface="Microsoft YaHei"/>
                <a:ea typeface="Microsoft YaHei"/>
              </a:rPr>
              <a:t>超时率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29375" y="1771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CE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7115175" y="1752600"/>
            <a:ext cx="2619375" cy="20955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848850" y="1762125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>19.1%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429375" y="21145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RJ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115175" y="2095500"/>
            <a:ext cx="2286000" cy="20955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515475" y="2105025"/>
            <a:ext cx="1190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16.7%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9,222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429375" y="24574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115175" y="2438400"/>
            <a:ext cx="2219325" cy="20955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448800" y="2447925"/>
            <a:ext cx="1190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16.2%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2,439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429375" y="2800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ES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7115175" y="2781300"/>
            <a:ext cx="2000250" cy="20955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229725" y="2790825"/>
            <a:ext cx="447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14.6%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29375" y="31432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PE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115175" y="3124200"/>
            <a:ext cx="1533525" cy="20955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763000" y="3133725"/>
            <a:ext cx="447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11.2%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429375" y="34861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SP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115175" y="3467100"/>
            <a:ext cx="895350" cy="209550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124825" y="3476625"/>
            <a:ext cx="1190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6.5%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31,361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429375" y="38290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PR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115175" y="3810000"/>
            <a:ext cx="838200" cy="209550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067675" y="3819525"/>
            <a:ext cx="35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6.1%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533400" y="5200650"/>
            <a:ext cx="111252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33400" y="5362575"/>
            <a:ext cx="3514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距离是真凶，但不是唯一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33400" y="5638800"/>
            <a:ext cx="3514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每跨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公里超时率抬升约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1.5-2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个百分点，评分同步下行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0.1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分。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333875" y="5362575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东北</a:t>
            </a:r>
            <a:r>
              <a:rPr lang="en-US" sz="1425" b="1">
                <a:solidFill>
                  <a:srgbClr val="061F32"/>
                </a:solidFill>
                <a:latin typeface="Microsoft YaHei"/>
                <a:ea typeface="Microsoft YaHei"/>
              </a:rPr>
              <a:t>/</a:t>
            </a: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北部州是重灾区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333875" y="5638800"/>
            <a:ext cx="3524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CE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BA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PE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远离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SP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卖家集群；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RJ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单量大却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16.7%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，是总量损失最大的州。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143875" y="5362575"/>
            <a:ext cx="3514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143875" y="5638800"/>
            <a:ext cx="3514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远距离州承诺时效单独加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2-3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天，或建立区域前置仓，别用全国一套时效。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33400" y="6286500"/>
            <a:ext cx="1112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 xml:space="preserve">Source: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分级后总数据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.csv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（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 xml:space="preserve">72,907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单，含经纬度直线距离）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74" name="" descr="&lt;Slide style={{&#10;    width: '1280px', height: '720px', background: '#062032',&#10;    padding: '50px 60px 50px 60px', justifyContent: 'flex-start',&#10;}}&gt;&#10;    &lt;Box style={{ flexDirection: 'row', height: 480 }}&gt;&#10;        &lt;Box style={{ width: 340, alignItems: 'flex-start', justifyContent: 'center' }}&gt;&#10;            &lt;Text style={{ fontSize: 250, fontWeight: 'bold', color: '#FFFFFF', opacity: 0.18, lineHeight: 1 }}&gt;02&lt;/Text&gt;&#10;        &lt;/Box&gt;&#10;        &lt;Box style={{ width: 800, justifyContent: 'space-between' }}&gt;&#10;            &lt;Box&gt;&#10;                &lt;Text style={{ fontSize: 56, fontWeight: 'bold', color: '#FFFFFF', lineHeight: 1.2 }}&gt;&#10;                    归因拆解&#10;                &lt;/Text&gt;&#10;                &lt;Box style={{ height: 20 }} /&gt;&#10;                &lt;Text style={{ fontSize: 32, color: '#E7E6E6', lineHeight: 1.4 }}&gt;&#10;                    超时不是均匀分布，而是集中在少数卖家&#10;                &lt;/Text&gt;&#10;                &lt;Box style={{ height: 26 }} /&gt;&#10;                &lt;Text style={{ fontSize: 20, color: '#808080', lineHeight: 1.4 }}&gt;&#10;                    ATTRIBUTION · 2,589 SELLERS / 73 CATEGORIES / 20 STATES&#10;                &lt;/Text&gt;&#10;            &lt;/Box&gt;&#10;            &lt;Box&gt;&#10;                &lt;Text style={{ fontSize: 22, color: '#E7E6E6', lineHeight: 1.5 }}&gt;&#10;                    A 类 132 家卖家（占 5.1%）超时率 17.4%，是优质卖家的 3.1 倍&#10;                &lt;/Text&gt;&#10;                &lt;Box style={{ height: 12 }} /&gt;&#10;                &lt;Text style={{ fontSize: 22, color: '#E7E6E6', lineHeight: 1.5 }}&gt;&#10;                    B 类 436 家贡献了全部超时单的 48%——问题在时效预测，不在发货&#10;                &lt;/Text&gt;&#10;                &lt;Box style={{ height: 12 }} /&gt;&#10;                &lt;Text style={{ fontSize: 22, color: '#E7E6E6', lineHeight: 1.5 }}&gt;&#10;                    最差品类办公家具评分 3.54，比平台均值低 0.7 分&#10;                &lt;/Text&gt;&#10;                &lt;Box style={{ height: 12 }} /&gt;&#10;                &lt;Text style={{ fontSize: 22, color: '#F47B39', lineHeight: 1.5 }}&gt;&#10;                    结论：治理对象有具体名单，不需要全平台运动式整改&#10;                &lt;/Text&gt;&#10;            &lt;/Box&gt;&#10;        &lt;/Box&gt;&#10;    &lt;/Box&gt;&#10;    &lt;Box style={{ height: 36 }} /&gt;&#10;    &lt;Text style={{ fontSize: 20, color: '#808080' }}&gt;&#10;        本章交付：卖家四级风险清单 · 品类风险清单 · 区域优先级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810000" y="476250"/>
            <a:ext cx="76200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归因拆解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810000" y="1438275"/>
            <a:ext cx="76200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400">
                <a:solidFill>
                  <a:srgbClr val="E7E6E6"/>
                </a:solidFill>
                <a:latin typeface="Microsoft YaHei"/>
                <a:ea typeface="Microsoft YaHei"/>
              </a:rPr>
              <a:t>超时不是均匀分布，而是集中在少数卖家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810000" y="2200275"/>
            <a:ext cx="7620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ATTRIBUTION · 2,589 SELLERS / 73 CATEGORIES / 20 STATES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0" y="31813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类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132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家卖家（占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5.1%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）超时率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17.4%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，是优质卖家的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3.1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810000" y="36766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类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436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家贡献了全部超时单的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48%——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问题在时效预测，不在发货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3810000" y="41719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最差品类办公家具评分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3.54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，比平台均值低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0.7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810000" y="46672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47B39"/>
                </a:solidFill>
                <a:latin typeface="Microsoft YaHei"/>
                <a:ea typeface="Microsoft YaHei"/>
              </a:rPr>
              <a:t>结论：治理对象有具体名单，不需要全平台运动式整改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71500" y="53911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本章交付：卖家四级风险清单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品类风险清单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区域优先级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71500" y="1333500"/>
            <a:ext cx="2943225" cy="2857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0" b="1">
                <a:solidFill>
                  <a:srgbClr val="FFFFFF">
                    <a:alpha val="1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85" name="" descr="&lt;Slide style={{&#10;    width: '1280px', height: '720px', background: '#FFFFFF',&#10;    padding: '44px 56px 28px 56px',&#10;}}&gt;&#10;    &lt;Text style={{ fontSize: 32, fontWeight: 'bold', color: '#061F32' }}&gt;&#10;        2,589 家卖家分成四档：132 家要清退，436 家要改时效，134 家要约谈&#10;    &lt;/Text&gt;&#10;    &lt;Box style={{ height: 1, background: '#061F32', marginTop: 12 }} /&gt;&#10;    &lt;Box style={{ height: 18 }} /&gt;&#10;&#10;    &lt;Box style={{ flexDirection: 'row', gap: 10 }}&gt;&#10;        &lt;Box style={{ width: 190 }}&gt;&lt;Text style={{ fontSize: 17, fontWeight: 'bold', color: '#44546A' }}&gt;风险等级&lt;/Text&gt;&lt;/Box&gt;&#10;        &lt;Box style={{ width: 96 }}&gt;&lt;Text style={{ fontSize: 17, fontWeight: 'bold', color: '#44546A' }}&gt;卖家数&lt;/Text&gt;&lt;/Box&gt;&#10;        &lt;Box style={{ width: 110 }}&gt;&lt;Text style={{ fontSize: 17, fontWeight: 'bold', color: '#44546A' }}&gt;订单量&lt;/Text&gt;&lt;/Box&gt;&#10;        &lt;Box style={{ width: 110 }}&gt;&lt;Text style={{ fontSize: 17, fontWeight: 'bold', color: '#44546A' }}&gt;超时率&lt;/Text&gt;&lt;/Box&gt;&#10;        &lt;Box style={{ width: 110 }}&gt;&lt;Text style={{ fontSize: 17, fontWeight: 'bold', color: '#44546A' }}&gt;平均评分&lt;/Text&gt;&lt;/Box&gt;&#10;        &lt;Box style={{ width: 150 }}&gt;&lt;Text style={{ fontSize: 17, fontWeight: 'bold', color: '#44546A' }}&gt;GMV&lt;/Text&gt;&lt;/Box&gt;&#10;        &lt;Box style={{ width: 300 }}&gt;&lt;Text style={{ fontSize: 17, fontWeight: 'bold', color: '#44546A' }}&gt;归因与处置&lt;/Text&gt;&lt;/Box&gt;&#10;    &lt;/Box&gt;&#10;    &lt;Box style={{ height: 1, background: '#D9D9D9', marginTop: 8 }} /&gt;&#10;&#10;    &lt;Box style={{ flexDirection: 'row', gap: 10, paddingTop: 14 }}&gt;&#10;        &lt;Box style={{ width: 190 }}&gt;&lt;Text style={{ fontSize: 16, fontWeight: 'bold', color: '#5A0E13' }}&gt;A 严重风险 · 建议下架评估&lt;/Text&gt;&lt;/Box&gt;&#10;        &lt;Box style={{ width: 96 }}&gt;&lt;Text style={{ fontSize: 18, fontWeight: 'bold', color: '#061F32' }}&gt;132&lt;/Text&gt;&lt;/Box&gt;&#10;        &lt;Box style={{ width: 110 }}&gt;&lt;Text style={{ fontSize: 16, color: '#44546A' }}&gt;5,864&lt;/Text&gt;&lt;/Box&gt;&#10;        &lt;Box style={{ width: 110 }}&gt;&lt;Text style={{ fontSize: 18, fontWeight: 'bold', color: '#5A0E13' }}&gt;17.4%&lt;/Text&gt;&lt;/Box&gt;&#10;        &lt;Box style={{ width: 110 }}&gt;&lt;Text style={{ fontSize: 16, color: '#44546A' }}&gt;3.69&lt;/Text&gt;&lt;/Box&gt;&#10;        &lt;Box style={{ width: 150 }}&gt;&lt;Text style={{ fontSize: 16, color: '#44546A' }}&gt;90.8 万&lt;/Text&gt;&lt;/Box&gt;&#10;        &lt;Box style={{ width: 300 }}&gt;&lt;Text style={{ fontSize: 15, color: '#44546A', lineHeight: 1.4 }}&gt;卖家主体责任，占比小但伤害大&lt;/Text&gt;&lt;/Box&gt;&#10;    &lt;/Box&gt;&#10;    &lt;Box style={{ height: 1, background: '#EFEFEF' }} /&gt;&#10;&#10;    &lt;Box style={{ flexDirection: 'row', gap: 10, paddingTop: 14 }}&gt;&#10;        &lt;Box style={{ width: 190 }}&gt;&lt;Text style={{ fontSize: 16, fontWeight: 'bold', color: '#C0392B' }}&gt;B 送达超时 · 非卖家责任&lt;/Text&gt;&lt;/Box&gt;&#10;        &lt;Box style={{ width: 96 }}&gt;&lt;Text style={{ fontSize: 18, fontWeight: 'bold', color: '#061F32' }}&gt;436&lt;/Text&gt;&lt;/Box&gt;&#10;        &lt;Box style={{ width: 110 }}&gt;&lt;Text style={{ fontSize: 16, color: '#44546A' }}&gt;23,542&lt;/Text&gt;&lt;/Box&gt;&#10;        &lt;Box style={{ width: 110 }}&gt;&lt;Text style={{ fontSize: 18, fontWeight: 'bold', color: '#C0392B' }}&gt;14.0%&lt;/Text&gt;&lt;/Box&gt;&#10;        &lt;Box style={{ width: 110 }}&gt;&lt;Text style={{ fontSize: 16, color: '#44546A' }}&gt;4.01&lt;/Text&gt;&lt;/Box&gt;&#10;        &lt;Box style={{ width: 150 }}&gt;&lt;Text style={{ fontSize: 16, color: '#44546A' }}&gt;317.7 万&lt;/Text&gt;&lt;/Box&gt;&#10;        &lt;Box style={{ width: 300 }}&gt;&lt;Text style={{ fontSize: 15, color: '#44546A', lineHeight: 1.4 }}&gt;承诺时效算法失真，需重算预计送达&lt;/Text&gt;&lt;/Box&gt;&#10;    &lt;/Box&gt;&#10;    &lt;Box style={{ height: 1, background: '#EFEFEF' }} /&gt;&#10;&#10;    &lt;Box style={{ flexDirection: 'row', gap: 10, paddingTop: 14 }}&gt;&#10;        &lt;Box style={{ width: 190 }}&gt;&lt;Text style={{ fontSize: 16, fontWeight: 'bold', color: '#F47B39' }}&gt;C 发货违规预警 · 约谈&lt;/Text&gt;&lt;/Box&gt;&#10;        &lt;Box style={{ width: 96 }}&gt;&lt;Text style={{ fontSize: 18, fontWeight: 'bold', color: '#061F32' }}&gt;134&lt;/Text&gt;&lt;/Box&gt;&#10;        &lt;Box style={{ width: 110 }}&gt;&lt;Text style={{ fontSize: 16, color: '#44546A' }}&gt;4,742&lt;/Text&gt;&lt;/Box&gt;&#10;        &lt;Box style={{ width: 110 }}&gt;&lt;Text style={{ fontSize: 18, fontWeight: 'bold', color: '#061F32' }}&gt;6.1%&lt;/Text&gt;&lt;/Box&gt;&#10;        &lt;Box style={{ width: 110 }}&gt;&lt;Text style={{ fontSize: 16, color: '#44546A' }}&gt;4.08&lt;/Text&gt;&lt;/Box&gt;&#10;        &lt;Box style={{ width: 150 }}&gt;&lt;Text style={{ fontSize: 16, color: '#44546A' }}&gt;62.3 万&lt;/Text&gt;&lt;/Box&gt;&#10;        &lt;Box style={{ width: 300 }}&gt;&lt;Text style={{ fontSize: 15, color: '#44546A', lineHeight: 1.4 }}&gt;发货环节拖延，尚未传导到评分&lt;/Text&gt;&lt;/Box&gt;&#10;    &lt;/Box&gt;&#10;    &lt;Box style={{ height: 1, background: '#EFEFEF' }} /&gt;&#10;&#10;    &lt;Box style={{ flexDirection: 'row', gap: 10, paddingTop: 14 }}&gt;&#10;        &lt;Box style={{ width: 190 }}&gt;&lt;Text style={{ fontSize: 16, fontWeight: 'bold', color: '#001965' }}&gt;D 优质卖家 · 无需干预&lt;/Text&gt;&lt;/Box&gt;&#10;        &lt;Box style={{ width: 96 }}&gt;&lt;Text style={{ fontSize: 18, fontWeight: 'bold', color: '#061F32' }}&gt;818&lt;/Text&gt;&lt;/Box&gt;&#10;        &lt;Box style={{ width: 110 }}&gt;&lt;Text style={{ fontSize: 16, color: '#44546A' }}&gt;36,607&lt;/Text&gt;&lt;/Box&gt;&#10;        &lt;Box style={{ width: 110 }}&gt;&lt;Text style={{ fontSize: 18, fontWeight: 'bold', color: '#001965' }}&gt;5.6%&lt;/Text&gt;&lt;/Box&gt;&#10;        &lt;Box style={{ width: 110 }}&gt;&lt;Text style={{ fontSize: 16, color: '#44546A' }}&gt;4.22&lt;/Text&gt;&lt;/Box&gt;&#10;        &lt;Box style={{ width: 150 }}&gt;&lt;Text style={{ fontSize: 16, color: '#44546A' }}&gt;483.7 万&lt;/Text&gt;&lt;/Box&gt;&#10;        &lt;Box style={{ width: 300 }}&gt;&lt;Text style={{ fontSize: 15, color: '#44546A', lineHeight: 1.4 }}&gt;标杆，产能可承接更多流量倾斜&lt;/Text&gt;&lt;/Box&gt;&#10;    &lt;/Box&gt;&#10;    &lt;Box style={{ height: 1, background: '#061F32', marginTop: 10 }} /&gt;&#10;&#10;    &lt;Box style={{ height: 22 }} /&gt;&#10;    &lt;Box style={{ flexDirection: 'row', gap: 26 }}&gt;&#10;        &lt;Box style={{ flex: 1, background: '#F5F5F5', borderTop: '4px solid #5A0E13', padding: '18px 20px' }}&gt;&#10;            &lt;Text style={{ fontSize: 22, fontWeight: 'bold', color: '#5A0E13' }}&gt;48%&lt;/Text&gt;&#10;            &lt;Text style={{ fontSize: 16, color: '#44546A', lineHeight: 1.5, marginTop: 6 }}&gt;&#10;                超时单来自 B 类——治理重点是时效预测模型，不是罚卖家&#10;            &lt;/Text&gt;&#10;        &lt;/Box&gt;&#10;        &lt;Box style={{ flex: 1, background: '#F5F5F5', borderTop: '4px solid #C0392B', padding: '18px 20px' }}&gt;&#10;            &lt;Text style={{ fontSize: 22, fontWeight: 'bold', color: '#C0392B' }}&gt;132 家&lt;/Text&gt;&#10;            &lt;Text style={{ fontSize: 16, color: '#44546A', lineHeight: 1.5, marginTop: 6 }}&gt;&#10;                A 类占卖家 5.1%、GMV 仅 3.4%，清退代价可控、收益明确&#10;            &lt;/Text&gt;&#10;        &lt;/Box&gt;&#10;        &lt;Box style={{ flex: 1, background: '#F5F5F5', borderTop: '4px solid #001965', padding: '18px 20px' }}&gt;&#10;            &lt;Text style={{ fontSize: 22, fontWeight: 'bold', color: '#001965' }}&gt;3.1 倍&lt;/Text&gt;&#10;            &lt;Text style={{ fontSize: 16, color: '#44546A', lineHeight: 1.5, marginTop: 6 }}&gt;&#10;                A 类超时率是 D 类（5.6%）的 3.1 倍，评分差 0.53 分&#10;            &lt;/Text&gt;&#10;        &lt;/Box&gt;&#10;    &lt;/Box&gt;&#10;    &lt;Box style={{ height: 12 }} /&gt;&#10;    &lt;Text style={{ fontSize: 13, color: '#808080' }}&gt;Source: seller_cluster_result.csv / 分级后总数据.csv，聚类口径 K-Means + 业务规则复核　|　07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2,589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家卖家分成四档：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132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家要清退，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436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家要改时效，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134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家要约谈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33400" y="1085850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风险等级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2438400" y="1085850"/>
            <a:ext cx="91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卖家数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3448050" y="1085850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订单量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591050" y="1085850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超时率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734050" y="1085850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平均评分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77050" y="1085850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44546A"/>
                </a:solidFill>
                <a:latin typeface="Microsoft YaHei"/>
                <a:ea typeface="Microsoft YaHei"/>
              </a:rPr>
              <a:t>GMV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401050" y="108585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4546A"/>
                </a:solidFill>
                <a:latin typeface="Microsoft YaHei"/>
                <a:ea typeface="Microsoft YaHei"/>
              </a:rPr>
              <a:t>归因与处置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533400" y="1362075"/>
            <a:ext cx="111252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33400" y="1504950"/>
            <a:ext cx="18097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 b="1">
                <a:solidFill>
                  <a:srgbClr val="5A0E13"/>
                </a:solidFill>
                <a:latin typeface="Microsoft YaHei"/>
                <a:ea typeface="Microsoft YaHei"/>
              </a:rPr>
              <a:t>严重风险</a:t>
            </a: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5A0E13"/>
                </a:solidFill>
                <a:latin typeface="Microsoft YaHei"/>
                <a:ea typeface="Microsoft YaHei"/>
              </a:rPr>
              <a:t>建议下架评估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2438400" y="15049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Microsoft YaHei"/>
                <a:ea typeface="Microsoft YaHei"/>
              </a:rPr>
              <a:t>132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448050" y="15049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5,864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591050" y="15049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A0E13"/>
                </a:solidFill>
                <a:latin typeface="Microsoft YaHei"/>
                <a:ea typeface="Microsoft YaHei"/>
              </a:rPr>
              <a:t>17.4%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34050" y="15049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3.69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877050" y="15049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90.8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401050" y="150495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卖家主体责任，占比小但伤害大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533400" y="1876425"/>
            <a:ext cx="11125200" cy="9525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33400" y="201930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 b="1">
                <a:solidFill>
                  <a:srgbClr val="C0392B"/>
                </a:solidFill>
                <a:latin typeface="Microsoft YaHei"/>
                <a:ea typeface="Microsoft YaHei"/>
              </a:rPr>
              <a:t>送达超时</a:t>
            </a:r>
            <a:r>
              <a:rPr lang="en-US" sz="120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C0392B"/>
                </a:solidFill>
                <a:latin typeface="Microsoft YaHei"/>
                <a:ea typeface="Microsoft YaHei"/>
              </a:rPr>
              <a:t>非卖家责任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2438400" y="20193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Microsoft YaHei"/>
                <a:ea typeface="Microsoft YaHei"/>
              </a:rPr>
              <a:t>436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448050" y="201930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23,542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591050" y="201930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0392B"/>
                </a:solidFill>
                <a:latin typeface="Microsoft YaHei"/>
                <a:ea typeface="Microsoft YaHei"/>
              </a:rPr>
              <a:t>14.0%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734050" y="201930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4.01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317.7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401050" y="201930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承诺时效算法失真，需重算预计送达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33400" y="2266950"/>
            <a:ext cx="11125200" cy="9525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33400" y="2409825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47B3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200" b="1">
                <a:solidFill>
                  <a:srgbClr val="F47B39"/>
                </a:solidFill>
                <a:latin typeface="Microsoft YaHei"/>
                <a:ea typeface="Microsoft YaHei"/>
              </a:rPr>
              <a:t>发货违规预警</a:t>
            </a:r>
            <a:r>
              <a:rPr lang="en-US" sz="1200" b="1">
                <a:solidFill>
                  <a:srgbClr val="F47B3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F47B39"/>
                </a:solidFill>
                <a:latin typeface="Microsoft YaHei"/>
                <a:ea typeface="Microsoft YaHei"/>
              </a:rPr>
              <a:t>约谈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2438400" y="240982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Microsoft YaHei"/>
                <a:ea typeface="Microsoft YaHei"/>
              </a:rPr>
              <a:t>134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448050" y="240982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4,742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591050" y="2409825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Microsoft YaHei"/>
                <a:ea typeface="Microsoft YaHei"/>
              </a:rPr>
              <a:t>6.1%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734050" y="240982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4.08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877050" y="24098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62.3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401050" y="24098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发货环节拖延，尚未传导到评分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33400" y="2657475"/>
            <a:ext cx="11125200" cy="9525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33400" y="28003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01965"/>
                </a:solidFill>
                <a:latin typeface="Microsoft YaHei"/>
                <a:ea typeface="Microsoft YaHei"/>
              </a:rPr>
              <a:t xml:space="preserve">D </a:t>
            </a:r>
            <a:r>
              <a:rPr lang="zh-CN" sz="1200" b="1">
                <a:solidFill>
                  <a:srgbClr val="001965"/>
                </a:solidFill>
                <a:latin typeface="Microsoft YaHei"/>
                <a:ea typeface="Microsoft YaHei"/>
              </a:rPr>
              <a:t>优质卖家</a:t>
            </a:r>
            <a:r>
              <a:rPr lang="en-US" sz="1200" b="1">
                <a:solidFill>
                  <a:srgbClr val="00196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001965"/>
                </a:solidFill>
                <a:latin typeface="Microsoft YaHei"/>
                <a:ea typeface="Microsoft YaHei"/>
              </a:rPr>
              <a:t>无需干预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2438400" y="28003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Microsoft YaHei"/>
                <a:ea typeface="Microsoft YaHei"/>
              </a:rPr>
              <a:t>818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448050" y="28003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36,607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591050" y="2800350"/>
            <a:ext cx="104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01965"/>
                </a:solidFill>
                <a:latin typeface="Microsoft YaHei"/>
                <a:ea typeface="Microsoft YaHei"/>
              </a:rPr>
              <a:t>5.6%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734050" y="28003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4.22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877050" y="280035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483.7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401050" y="280035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标杆，产能可承接更多流量倾斜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33400" y="31432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533400" y="3400425"/>
            <a:ext cx="3543300" cy="12477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533400" y="3362325"/>
            <a:ext cx="3543300" cy="1285875"/>
          </a:xfrm>
          <a:custGeom>
            <a:pathLst>
              <a:path w="372" h="135">
                <a:moveTo>
                  <a:pt x="0" y="0"/>
                </a:moveTo>
                <a:lnTo>
                  <a:pt x="372" y="0"/>
                </a:lnTo>
                <a:lnTo>
                  <a:pt x="372" y="4"/>
                </a:lnTo>
                <a:lnTo>
                  <a:pt x="0" y="4"/>
                </a:lnTo>
                <a:close/>
              </a:path>
            </a:pathLst>
          </a:custGeom>
          <a:solidFill>
            <a:srgbClr val="5A0E13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23900" y="357187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5A0E13"/>
                </a:solidFill>
                <a:latin typeface="Microsoft YaHei"/>
                <a:ea typeface="Microsoft YaHei"/>
              </a:rPr>
              <a:t>48%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23900" y="388620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超时单来自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类——治理重点是时效预测模型，不是罚卖家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324350" y="3400425"/>
            <a:ext cx="3543300" cy="12477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324350" y="3362325"/>
            <a:ext cx="3543300" cy="1285875"/>
          </a:xfrm>
          <a:custGeom>
            <a:pathLst>
              <a:path w="372" h="135">
                <a:moveTo>
                  <a:pt x="0" y="0"/>
                </a:moveTo>
                <a:lnTo>
                  <a:pt x="372" y="0"/>
                </a:lnTo>
                <a:lnTo>
                  <a:pt x="372" y="4"/>
                </a:lnTo>
                <a:lnTo>
                  <a:pt x="0" y="4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514850" y="357187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0392B"/>
                </a:solidFill>
                <a:latin typeface="Microsoft YaHei"/>
                <a:ea typeface="Microsoft YaHei"/>
              </a:rPr>
              <a:t xml:space="preserve">132 </a:t>
            </a:r>
            <a:r>
              <a:rPr lang="zh-CN" sz="1650" b="1">
                <a:solidFill>
                  <a:srgbClr val="C0392B"/>
                </a:solidFill>
                <a:latin typeface="Microsoft YaHei"/>
                <a:ea typeface="Microsoft YaHei"/>
              </a:rPr>
              <a:t>家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514850" y="388620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类占卖家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5.1%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GMV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仅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3.4%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，清退代价可控、收益明确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8115300" y="3400425"/>
            <a:ext cx="3543300" cy="12477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8115300" y="3362325"/>
            <a:ext cx="3543300" cy="1285875"/>
          </a:xfrm>
          <a:custGeom>
            <a:pathLst>
              <a:path w="372" h="135">
                <a:moveTo>
                  <a:pt x="0" y="0"/>
                </a:moveTo>
                <a:lnTo>
                  <a:pt x="372" y="0"/>
                </a:lnTo>
                <a:lnTo>
                  <a:pt x="372" y="4"/>
                </a:lnTo>
                <a:lnTo>
                  <a:pt x="0" y="4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305800" y="3571875"/>
            <a:ext cx="3162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01965"/>
                </a:solidFill>
                <a:latin typeface="Microsoft YaHei"/>
                <a:ea typeface="Microsoft YaHei"/>
              </a:rPr>
              <a:t xml:space="preserve">3.1 </a:t>
            </a:r>
            <a:r>
              <a:rPr lang="zh-CN" sz="1650" b="1">
                <a:solidFill>
                  <a:srgbClr val="001965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305800" y="3886200"/>
            <a:ext cx="3162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类超时率是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D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5.6%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）的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3.1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倍，评分差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0.53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33400" y="4724400"/>
            <a:ext cx="1112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 xml:space="preserve">Source: seller_cluster_result.csv /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分级后总数据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.csv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，聚类口径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 xml:space="preserve"> K-Means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业务规则复核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42" name="" descr="&lt;Slide style={{&#10;    width: '1280px', height: '720px', background: '#FFFFFF',&#10;    padding: '44px 56px 28px 56px',&#10;}}&gt;&#10;    &lt;Text style={{ fontSize: 32, fontWeight: 'bold', color: '#061F32' }}&gt;&#10;        品类维度：大件家具是超时重灾区，办公家具评分仅 3.54&#10;    &lt;/Text&gt;&#10;    &lt;Text style={{ fontSize: 18, color: '#808080', marginTop: 8 }}&gt;&#10;        左：订单量 ≥800 的品类超时率 Top　|　右：商品四级风险分布（按时长与评分敏感性聚类）&#10;    &lt;/Text&gt;&#10;    &lt;Box style={{ height: 1, background: '#061F32', marginTop: 12 }} /&gt;&#10;    &lt;Box style={{ height: 20 }} /&gt;&#10;&#10;    &lt;Box style={{ flexDirection: 'row', gap: 34, height: 380 }}&gt;&#10;        &lt;Box style={{ flex: 1 }}&gt;&#10;            &lt;Text style={{ fontSize: 20, fontWeight: 'bold', color: '#061F32' }}&gt;品类 · 超时率&lt;/Text&gt;&#10;            &lt;Box style={{ height: 16 }} /&gt;&#10;            &lt;Box style={{ flexDirection: 'column', gap: 16 }}&gt;&#10;                &lt;Box style={{ flexDirection: 'row', alignItems: 'center', gap: 12 }}&gt;&#10;                    &lt;Text style={{ fontSize: 15, color: '#44546A', width: 190 }}&gt;moveis_escritorio 办公家具&lt;/Text&gt;&#10;                    &lt;Box style={{ width: 190, height: 24, background: '#5A0E13' }} /&gt;&#10;                    &lt;Text style={{ fontSize: 16, fontWeight: 'bold', color: '#5A0E13' }}&gt;10.9%　评分 3.54&lt;/Text&gt;&#10;                &lt;/Box&gt;&#10;                &lt;Box style={{ flexDirection: 'row', alignItems: 'center', gap: 12 }}&gt;&#10;                    &lt;Text style={{ fontSize: 15, color: '#44546A', width: 190 }}&gt;cama_mesa_banho 床浴家居&lt;/Text&gt;&#10;                    &lt;Box style={{ width: 188, height: 24, background: '#C0392B' }} /&gt;&#10;                    &lt;Text style={{ fontSize: 16, color: '#061F32' }}&gt;10.8%　评分 3.92&lt;/Text&gt;&#10;                &lt;/Box&gt;&#10;                &lt;Box style={{ flexDirection: 'row', alignItems: 'center', gap: 12 }}&gt;&#10;                    &lt;Text style={{ fontSize: 15, color: '#44546A', width: 190 }}&gt;bebes 母婴&lt;/Text&gt;&#10;                    &lt;Box style={{ width: 188, height: 24, background: '#C0392B' }} /&gt;&#10;                    &lt;Text style={{ fontSize: 16, color: '#061F32' }}&gt;10.8%　评分 4.04&lt;/Text&gt;&#10;                &lt;/Box&gt;&#10;                &lt;Box style={{ flexDirection: 'row', alignItems: 'center', gap: 12 }}&gt;&#10;                    &lt;Text style={{ fontSize: 15, color: '#44546A', width: 190 }}&gt;eletronicos 电子&lt;/Text&gt;&#10;                    &lt;Box style={{ width: 179, height: 24, background: '#F47B39' }} /&gt;&#10;                    &lt;Text style={{ fontSize: 16, color: '#061F32' }}&gt;10.3%　评分 4.10&lt;/Text&gt;&#10;                &lt;/Box&gt;&#10;                &lt;Box style={{ flexDirection: 'row', alignItems: 'center', gap: 12 }}&gt;&#10;                    &lt;Text style={{ fontSize: 15, color: '#44546A', width: 190 }}&gt;beleza_saude 美妆健康&lt;/Text&gt;&#10;                    &lt;Box style={{ width: 179, height: 24, background: '#F47B39' }} /&gt;&#10;                    &lt;Text style={{ fontSize: 16, color: '#061F32' }}&gt;10.3%　评分 4.20&lt;/Text&gt;&#10;                &lt;/Box&gt;&#10;                &lt;Box style={{ flexDirection: 'row', alignItems: 'center', gap: 12 }}&gt;&#10;                    &lt;Text style={{ fontSize: 15, color: '#44546A', width: 190 }}&gt;ferramentas_jardim 园艺工具&lt;/Text&gt;&#10;                    &lt;Box style={{ width: 174, height: 24, background: '#F47B39' }} /&gt;&#10;                    &lt;Text style={{ fontSize: 16, color: '#061F32' }}&gt;10.0%　评分 4.14&lt;/Text&gt;&#10;                &lt;/Box&gt;&#10;            &lt;/Box&gt;&#10;        &lt;/Box&gt;&#10;&#10;        &lt;Box style={{ width: 1, background: '#D9D9D9' }} /&gt;&#10;&#10;        &lt;Box style={{ flex: 1 }}&gt;&#10;            &lt;Text style={{ fontSize: 20, fontWeight: 'bold', color: '#061F32' }}&gt;商品风险四级&lt;/Text&gt;&#10;            &lt;Box style={{ height: 16 }} /&gt;&#10;            &lt;Box style={{ flexDirection: 'column', gap: 16 }}&gt;&#10;                &lt;Box&gt;&#10;                    &lt;Box style={{ flexDirection: 'row', alignItems: 'center', gap: 12 }}&gt;&#10;                        &lt;Text style={{ fontSize: 15, color: '#44546A', width: 200 }}&gt;B 评分受超时影响最大&lt;/Text&gt;&#10;                        &lt;Box style={{ width: 200, height: 24, background: '#5A0E13' }} /&gt;&#10;                        &lt;Text style={{ fontSize: 16, fontWeight: 'bold', color: '#5A0E13' }}&gt;8,410 单　11.1%　3.88&lt;/Text&gt;&#10;                    &lt;/Box&gt;&#10;                &lt;/Box&gt;&#10;                &lt;Box&gt;&#10;                    &lt;Box style={{ flexDirection: 'row', alignItems: 'center', gap: 12 }}&gt;&#10;                        &lt;Text style={{ fontSize: 15, color: '#44546A', width: 200 }}&gt;C 高延迟但未伤评分&lt;/Text&gt;&#10;                        &lt;Box style={{ width: 174, height: 24, background: '#F47B39' }} /&gt;&#10;                        &lt;Text style={{ fontSize: 16, color: '#061F32' }}&gt;44,949 单　9.7%　4.10&lt;/Text&gt;&#10;                    &lt;/Box&gt;&#10;                &lt;/Box&gt;&#10;                &lt;Box&gt;&#10;                    &lt;Box style={{ flexDirection: 'row', alignItems: 'center', gap: 12 }}&gt;&#10;                        &lt;Text style={{ fontSize: 15, color: '#44546A', width: 200 }}&gt;D 普通商品&lt;/Text&gt;&#10;                        &lt;Box style={{ width: 147, height: 24, background: '#2E75B6' }} /&gt;&#10;                        &lt;Text style={{ fontSize: 16, color: '#061F32' }}&gt;15,346 单　8.2%　4.18&lt;/Text&gt;&#10;                    &lt;/Box&gt;&#10;                &lt;/Box&gt;&#10;                &lt;Box&gt;&#10;                    &lt;Box style={{ flexDirection: 'row', alignItems: 'center', gap: 12 }}&gt;&#10;                        &lt;Text style={{ fontSize: 15, color: '#44546A', width: 200 }}&gt;A 优质商品&lt;/Text&gt;&#10;                        &lt;Box style={{ width: 124, height: 24, background: '#001965' }} /&gt;&#10;                        &lt;Text style={{ fontSize: 16, color: '#061F32' }}&gt;3,266 单　6.9%　4.28&lt;/Text&gt;&#10;                    &lt;/Box&gt;&#10;                &lt;/Box&gt;&#10;            &lt;/Box&gt;&#10;            &lt;Box style={{ height: 24 }} /&gt;&#10;            &lt;Text style={{ fontSize: 16, color: '#44546A', lineHeight: 1.6 }}&gt;&#10;                B 类是治理优先级最高的品类群：超时率并非最高，但客户对延迟最不宽容，&#10;                每 1 个百分点超时率换来的评分损失是其它品类的 2 倍以上。&#10;            &lt;/Text&gt;&#10;        &lt;/Box&gt;&#10;    &lt;/Box&gt;&#10;&#10;    &lt;Box style={{ height: 1, background: '#D9D9D9' }} /&gt;&#10;    &lt;Box style={{ height: 16 }} /&gt;&#10;    &lt;Box style={{ flexDirection: 'row', gap: 30 }}&gt;&#10;        &lt;Box style={{ flex: 1 }}&gt;&#10;            &lt;Text style={{ fontSize: 19, fontWeight: 'bold', color: '#061F32' }}&gt;大件 = 高风险&lt;/Text&gt;&#10;            &lt;Text style={{ fontSize: 16, color: '#44546A', lineHeight: 1.5, marginTop: 6 }}&gt;家具、床品体积重量大，干线运输与末端安装环节最容易失控。&lt;/Text&gt;&#10;        &lt;/Box&gt;&#10;        &lt;Box style={{ flex: 1 }}&gt;&#10;            &lt;Text style={{ fontSize: 19, fontWeight: 'bold', color: '#061F32' }}&gt;办公家具要单独立案&lt;/Text&gt;&#10;            &lt;Text style={{ fontSize: 16, color: '#44546A', lineHeight: 1.5, marginTop: 6 }}&gt;评分 3.54 为全平台最低，比均值低 0.7 分，建议暂停新招商。&lt;/Text&gt;&#10;        &lt;/Box&gt;&#10;        &lt;Box style={{ flex: 1 }}&gt;&#10;            &lt;Text style={{ fontSize: 19, fontWeight: 'bold', color: '#061F32' }}&gt;动作&lt;/Text&gt;&#10;            &lt;Text style={{ fontSize: 16, color: '#44546A', lineHeight: 1.5, marginTop: 6 }}&gt;B 类 8,410 单涉及品类单独设置履约 SLA 并配专属客服补偿包。&lt;/Text&gt;&#10;        &lt;/Box&gt;&#10;    &lt;/Box&gt;&#10;    &lt;Box style={{ height: 10 }} /&gt;&#10;    &lt;Text style={{ fontSize: 13, color: '#808080' }}&gt;Source: catogorical_eval.py / 分级后总数据.csv　|　08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品类维度：大件家具是超时重灾区，办公家具评分仅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3.54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33400" y="866775"/>
            <a:ext cx="1112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左：订单量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 xml:space="preserve"> ≥800 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的品类超时率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 xml:space="preserve"> Top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　</a:t>
            </a:r>
            <a:r>
              <a:rPr lang="en-US" sz="1350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1350">
                <a:solidFill>
                  <a:srgbClr val="808080"/>
                </a:solidFill>
                <a:latin typeface="Microsoft YaHei"/>
                <a:ea typeface="Microsoft YaHei"/>
              </a:rPr>
              <a:t>　右：商品四级风险分布（按时长与评分敏感性聚类）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33400" y="119062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33400" y="1390650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Microsoft YaHei"/>
                <a:ea typeface="Microsoft YaHei"/>
              </a:rPr>
              <a:t>品类</a:t>
            </a:r>
            <a:r>
              <a:rPr lang="en-US" sz="15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 b="1">
                <a:solidFill>
                  <a:srgbClr val="061F32"/>
                </a:solidFill>
                <a:latin typeface="Microsoft YaHei"/>
                <a:ea typeface="Microsoft YaHei"/>
              </a:rPr>
              <a:t>超时率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33400" y="180022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moveis_escritorio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办公家具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2457450" y="1771650"/>
            <a:ext cx="1809750" cy="22860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381500" y="1790700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>10.9%</a:t>
            </a:r>
            <a:r>
              <a:rPr lang="zh-CN" sz="1200" b="1">
                <a:solidFill>
                  <a:srgbClr val="5A0E13"/>
                </a:solidFill>
                <a:latin typeface="Microsoft YaHei"/>
                <a:ea typeface="Microsoft YaHei"/>
              </a:rPr>
              <a:t>　评分</a:t>
            </a: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 3.54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33400" y="2152650"/>
            <a:ext cx="18097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cama_mesa_banho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床浴家居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2457450" y="2209800"/>
            <a:ext cx="1790700" cy="228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362450" y="22288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10.8%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3.92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33400" y="267652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bebes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母婴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2457450" y="2647950"/>
            <a:ext cx="1790700" cy="228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362450" y="266700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10.8%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4.04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33400" y="305752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eletronicos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电子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2457450" y="3028950"/>
            <a:ext cx="1704975" cy="22860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276725" y="304800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10.3%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4.10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33400" y="3438525"/>
            <a:ext cx="1809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beleza_saude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美妆健康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2457450" y="3409950"/>
            <a:ext cx="1704975" cy="22860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276725" y="342900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10.3%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4.20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33400" y="3790950"/>
            <a:ext cx="18097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ferramentas_jardim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园艺工具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2457450" y="3848100"/>
            <a:ext cx="1657350" cy="22860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229100" y="38671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10.0%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评分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 4.14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0" y="1390650"/>
            <a:ext cx="9525" cy="36195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429375" y="1390650"/>
            <a:ext cx="522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61F32"/>
                </a:solidFill>
                <a:latin typeface="Microsoft YaHei"/>
                <a:ea typeface="Microsoft YaHei"/>
              </a:rPr>
              <a:t>商品风险四级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429375" y="1800225"/>
            <a:ext cx="1724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评分受超时影响最大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8267700" y="1771650"/>
            <a:ext cx="1905000" cy="228600"/>
          </a:xfrm>
          <a:prstGeom prst="rect">
            <a:avLst/>
          </a:prstGeom>
          <a:solidFill>
            <a:srgbClr val="5A0E13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096500" y="1790700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8,410 </a:t>
            </a:r>
            <a:r>
              <a:rPr lang="zh-CN" sz="1200" b="1">
                <a:solidFill>
                  <a:srgbClr val="5A0E13"/>
                </a:solidFill>
                <a:latin typeface="Microsoft YaHei"/>
                <a:ea typeface="Microsoft YaHei"/>
              </a:rPr>
              <a:t>单　</a:t>
            </a: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>11.1%</a:t>
            </a:r>
            <a:r>
              <a:rPr lang="zh-CN" sz="1200" b="1">
                <a:solidFill>
                  <a:srgbClr val="5A0E13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5A0E13"/>
                </a:solidFill>
                <a:latin typeface="Microsoft YaHei"/>
                <a:ea typeface="Microsoft YaHei"/>
              </a:rPr>
              <a:t>3.88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429375" y="2181225"/>
            <a:ext cx="1828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高延迟但未伤评分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8372475" y="2152650"/>
            <a:ext cx="1657350" cy="228600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0077450" y="2171700"/>
            <a:ext cx="158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44,949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单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9.7%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4.10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429375" y="256222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D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普通商品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8448675" y="2533650"/>
            <a:ext cx="1400175" cy="2286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963150" y="2552700"/>
            <a:ext cx="1647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15,346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单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8.2%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4.18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429375" y="2943225"/>
            <a:ext cx="190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优质商品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8448675" y="2914650"/>
            <a:ext cx="1181100" cy="228600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744075" y="2933700"/>
            <a:ext cx="1552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 xml:space="preserve">3,266 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单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6.9%</a:t>
            </a:r>
            <a:r>
              <a:rPr lang="zh-CN" sz="1200">
                <a:solidFill>
                  <a:srgbClr val="061F32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061F32"/>
                </a:solidFill>
                <a:latin typeface="Microsoft YaHei"/>
                <a:ea typeface="Microsoft YaHei"/>
              </a:rPr>
              <a:t>4.28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429375" y="3371850"/>
            <a:ext cx="5229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类是治理优先级最高的品类群：超时率并非最高，但客户对延迟最不宽容，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每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个百分点超时率换来的评分损失是其它品类的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倍以上。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33400" y="5010150"/>
            <a:ext cx="111252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33400" y="5172075"/>
            <a:ext cx="3514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大件</a:t>
            </a:r>
            <a:r>
              <a:rPr lang="en-US" sz="1425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高风险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33400" y="5448300"/>
            <a:ext cx="3514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家具、床品体积重量大，干线运输与末端安装环节最容易失控。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333875" y="5172075"/>
            <a:ext cx="3524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办公家具要单独立案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333875" y="5448300"/>
            <a:ext cx="3524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评分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3.54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为全平台最低，比均值低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0.7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分，建议暂停新招商。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143875" y="5172075"/>
            <a:ext cx="3514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Microsoft YaHei"/>
                <a:ea typeface="Microsoft YaHei"/>
              </a:rPr>
              <a:t>动作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143875" y="5448300"/>
            <a:ext cx="35147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8,410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单涉及品类单独设置履约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SLA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并配专属客服补偿包。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33400" y="6096000"/>
            <a:ext cx="1112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 xml:space="preserve">Source: catogorical_eval.py /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分级后总数据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.csv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　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89" name="" descr="&lt;Slide style={{&#10;    width: '1280px', height: '720px', background: '#062032',&#10;    padding: '50px 60px 50px 60px', justifyContent: 'flex-start',&#10;}}&gt;&#10;    &lt;Box style={{ flexDirection: 'row', height: 480 }}&gt;&#10;        &lt;Box style={{ width: 340, alignItems: 'flex-start', justifyContent: 'center' }}&gt;&#10;            &lt;Text style={{ fontSize: 250, fontWeight: 'bold', color: '#FFFFFF', opacity: 0.18, lineHeight: 1 }}&gt;03&lt;/Text&gt;&#10;        &lt;/Box&gt;&#10;        &lt;Box style={{ width: 800, justifyContent: 'space-between' }}&gt;&#10;            &lt;Box&gt;&#10;                &lt;Text style={{ fontSize: 56, fontWeight: 'bold', color: '#FFFFFF', lineHeight: 1.2 }}&gt;&#10;                    治理方案&#10;                &lt;/Text&gt;&#10;                &lt;Box style={{ height: 20 }} /&gt;&#10;                &lt;Text style={{ fontSize: 32, color: '#E7E6E6', lineHeight: 1.4 }}&gt;&#10;                    三件事，三周内落地，目标超时率 9.41% → 6%&#10;                &lt;/Text&gt;&#10;                &lt;Box style={{ height: 26 }} /&gt;&#10;                &lt;Text style={{ fontSize: 20, color: '#808080', lineHeight: 1.4 }}&gt;&#10;                    ACTION PLAN · SELLER / ALGORITHM / SLA&#10;                &lt;/Text&gt;&#10;            &lt;/Box&gt;&#10;            &lt;Box&gt;&#10;                &lt;Text style={{ fontSize: 22, color: '#E7E6E6', lineHeight: 1.5 }}&gt;&#10;                    ① 132 家 A 类卖家：2 周整改期，逾期下架&#10;                &lt;/Text&gt;&#10;                &lt;Box style={{ height: 12 }} /&gt;&#10;                &lt;Text style={{ fontSize: 22, color: '#E7E6E6', lineHeight: 1.5 }}&gt;&#10;                    ② 承诺时效模型改造：按距离 + 州分位数重算，弃用均值&#10;                &lt;/Text&gt;&#10;                &lt;Box style={{ height: 12 }} /&gt;&#10;                &lt;Text style={{ fontSize: 22, color: '#E7E6E6', lineHeight: 1.5 }}&gt;&#10;                    ③ 134 家 C 类卖家：发货超时自动扣分 + 流量降权&#10;                &lt;/Text&gt;&#10;                &lt;Box style={{ height: 12 }} /&gt;&#10;                &lt;Text style={{ fontSize: 22, color: '#F47B39', lineHeight: 1.5 }}&gt;&#10;                    预期：减少约 2,500 单超时，挽回评分 0.15-0.25 分&#10;                &lt;/Text&gt;&#10;            &lt;/Box&gt;&#10;        &lt;/Box&gt;&#10;    &lt;/Box&gt;&#10;    &lt;Box style={{ height: 36 }} /&gt;&#10;    &lt;Text style={{ fontSize: 20, color: '#808080' }}&gt;&#10;        本章交付：三项动作 · 责任方与排期 · 预期收益测算&#10;    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3810000" y="476250"/>
            <a:ext cx="76200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治理方案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3810000" y="1438275"/>
            <a:ext cx="76200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400">
                <a:solidFill>
                  <a:srgbClr val="E7E6E6"/>
                </a:solidFill>
                <a:latin typeface="Microsoft YaHei"/>
                <a:ea typeface="Microsoft YaHei"/>
              </a:rPr>
              <a:t>三件事，三周内落地，目标超时率</a:t>
            </a:r>
            <a:r>
              <a:rPr lang="en-US" sz="2400">
                <a:solidFill>
                  <a:srgbClr val="E7E6E6"/>
                </a:solidFill>
                <a:latin typeface="Microsoft YaHei"/>
                <a:ea typeface="Microsoft YaHei"/>
              </a:rPr>
              <a:t xml:space="preserve"> 9.41% → 6%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3810000" y="2200275"/>
            <a:ext cx="7620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>ACTION PLAN · SELLER / ALGORITHM / SLA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3810000" y="31813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① 132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家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类卖家：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周整改期，逾期下架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3810000" y="36766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承诺时效模型改造：按距离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州分位数重算，弃用均值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3810000" y="41719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③ 134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家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C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类卖家：发货超时自动扣分</a:t>
            </a:r>
            <a:r>
              <a:rPr lang="en-US" sz="1650">
                <a:solidFill>
                  <a:srgbClr val="E7E6E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E7E6E6"/>
                </a:solidFill>
                <a:latin typeface="Microsoft YaHei"/>
                <a:ea typeface="Microsoft YaHei"/>
              </a:rPr>
              <a:t>流量降权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3810000" y="4667250"/>
            <a:ext cx="762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47B39"/>
                </a:solidFill>
                <a:latin typeface="Microsoft YaHei"/>
                <a:ea typeface="Microsoft YaHei"/>
              </a:rPr>
              <a:t>预期：减少约</a:t>
            </a:r>
            <a:r>
              <a:rPr lang="en-US" sz="1650">
                <a:solidFill>
                  <a:srgbClr val="F47B39"/>
                </a:solidFill>
                <a:latin typeface="Microsoft YaHei"/>
                <a:ea typeface="Microsoft YaHei"/>
              </a:rPr>
              <a:t xml:space="preserve"> 2,500 </a:t>
            </a:r>
            <a:r>
              <a:rPr lang="zh-CN" sz="1650">
                <a:solidFill>
                  <a:srgbClr val="F47B39"/>
                </a:solidFill>
                <a:latin typeface="Microsoft YaHei"/>
                <a:ea typeface="Microsoft YaHei"/>
              </a:rPr>
              <a:t>单超时，挽回评分</a:t>
            </a:r>
            <a:r>
              <a:rPr lang="en-US" sz="1650">
                <a:solidFill>
                  <a:srgbClr val="F47B39"/>
                </a:solidFill>
                <a:latin typeface="Microsoft YaHei"/>
                <a:ea typeface="Microsoft YaHei"/>
              </a:rPr>
              <a:t xml:space="preserve"> 0.15-0.25 </a:t>
            </a:r>
            <a:r>
              <a:rPr lang="zh-CN" sz="1650">
                <a:solidFill>
                  <a:srgbClr val="F47B39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71500" y="539115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本章交付：三项动作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责任方与排期</a:t>
            </a:r>
            <a:r>
              <a:rPr lang="en-US" sz="15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08080"/>
                </a:solidFill>
                <a:latin typeface="Microsoft YaHei"/>
                <a:ea typeface="Microsoft YaHei"/>
              </a:rPr>
              <a:t>预期收益测算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71500" y="1333500"/>
            <a:ext cx="2943225" cy="2857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0" b="1">
                <a:solidFill>
                  <a:srgbClr val="FFFFFF">
                    <a:alpha val="1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 style={{&#10;    width: '1280px', height: '720px', background: '#FFFFFF',&#10;    padding: '44px 56px 28px 56px',&#10;}}&gt;&#10;    &lt;Text style={{ fontSize: 32, fontWeight: 'bold', color: '#061F32' }}&gt;&#10;        三项动作、责任方与排期&#10;    &lt;/Text&gt;&#10;    &lt;Box style={{ height: 1, background: '#061F32', marginTop: 12 }} /&gt;&#10;    &lt;Box style={{ height: 18 }} /&gt;&#10;&#10;    &lt;Box style={{ flexDirection: 'row', gap: 22, height: 300 }}&gt;&#10;        &lt;Box style={{ flex: 1, background: '#F5F5F5', borderTop: '5px solid #5A0E13', padding: '24px 24px' }}&gt;&#10;            &lt;Text style={{ fontSize: 17, fontWeight: 'bold', color: '#5A0E13' }}&gt;动作一 · 卖家治理&lt;/Text&gt;&#10;            &lt;Box style={{ height: 14 }} /&gt;&#10;            &lt;Text style={{ fontSize: 24, fontWeight: 'bold', color: '#061F32', lineHeight: 1.3 }}&gt;A 类 132 家限期整改&lt;/Text&gt;&#10;            &lt;Box style={{ height: 14 }} /&gt;&#10;            &lt;Text style={{ fontSize: 16, color: '#44546A', lineHeight: 1.6 }}&gt;&#10;                · 逐家下发超时清单，2 周内超时率降至 10% 以下&#10;            &lt;/Text&gt;&#10;            &lt;Text style={{ fontSize: 16, color: '#44546A', lineHeight: 1.6 }}&gt;&#10;                · 逾期未达标直接下架，涉及 GMV 90.8 万（占 3.4%）&#10;            &lt;/Text&gt;&#10;            &lt;Text style={{ fontSize: 16, color: '#44546A', lineHeight: 1.6 }}&gt;&#10;                · 同步启动同类目招商补位，优先 D 类优质卖家扩品&#10;            &lt;/Text&gt;&#10;            &lt;Box style={{ height: 14 }} /&gt;&#10;            &lt;Text style={{ fontSize: 15, color: '#808080' }}&gt;责任：商家运营部　|　第 1-2 周&lt;/Text&gt;&#10;        &lt;/Box&gt;&#10;&#10;        &lt;Box style={{ flex: 1, background: '#F5F5F5', borderTop: '5px solid #001965', padding: '24px 24px' }}&gt;&#10;            &lt;Text style={{ fontSize: 17, fontWeight: 'bold', color: '#001965' }}&gt;动作二 · 算法治理&lt;/Text&gt;&#10;            &lt;Box style={{ height: 14 }} /&gt;&#10;            &lt;Text style={{ fontSize: 24, fontWeight: 'bold', color: '#061F32', lineHeight: 1.3 }}&gt;承诺时效模型重算&lt;/Text&gt;&#10;            &lt;Box style={{ height: 14 }} /&gt;&#10;            &lt;Text style={{ fontSize: 16, color: '#44546A', lineHeight: 1.6 }}&gt;&#10;                · 弃用全国统一均值，改按「距离 × 收货州」分位数（P80）输出&#10;            &lt;/Text&gt;&#10;            &lt;Text style={{ fontSize: 16, color: '#44546A', lineHeight: 1.6 }}&gt;&#10;                · 承诺周期当前均值 23.1 天 vs 实际 12.7 天，两头都失真&#10;            &lt;/Text&gt;&#10;            &lt;Text style={{ fontSize: 16, color: '#44546A', lineHeight: 1.6 }}&gt;&#10;                · 覆盖 B 类 436 家、23,542 单，超时单占总量 48%&#10;            &lt;/Text&gt;&#10;            &lt;Box style={{ height: 14 }} /&gt;&#10;            &lt;Text style={{ fontSize: 15, color: '#808080' }}&gt;责任：数据部 + 物流产品　|　第 1-3 周&lt;/Text&gt;&#10;        &lt;/Box&gt;&#10;&#10;        &lt;Box style={{ flex: 1, background: '#F5F5F5', borderTop: '5px solid #F47B39', padding: '24px 24px' }}&gt;&#10;            &lt;Text style={{ fontSize: 17, fontWeight: 'bold', color: '#F47B39' }}&gt;动作三 · SLA 治理&lt;/Text&gt;&#10;            &lt;Box style={{ height: 14 }} /&gt;&#10;            &lt;Text style={{ fontSize: 24, fontWeight: 'bold', color: '#061F32', lineHeight: 1.3 }}&gt;远距州与大件品单独 SLA&lt;/Text&gt;&#10;            &lt;Box style={{ height: 14 }} /&gt;&#10;            &lt;Text style={{ fontSize: 16, color: '#44546A', lineHeight: 1.6 }}&gt;&#10;                · CE / RJ / BA / ES 四州承诺时效 +2-3 天，或建前置仓&#10;            &lt;/Text&gt;&#10;            &lt;Text style={{ fontSize: 16, color: '#44546A', lineHeight: 1.6 }}&gt;&#10;                · 办公家具等 B 类品类配延迟补偿包（优惠券自动发放）&#10;            &lt;/Text&gt;&#10;            &lt;Text style={{ fontSize: 16, color: '#44546A', lineHeight: 1.6 }}&gt;&#10;                · C 类 134 家发货超时扣分、搜索降权&#10;            &lt;/Text&gt;&#10;            &lt;Box style={{ height: 14 }} /&gt;&#10;            &lt;Text style={{ fontSize: 15, color: '#808080' }}&gt;责任：物流 + 商家运营　|　第 2-4 周&lt;/Text&gt;&#10;        &lt;/Box&gt;&#10;    &lt;/Box&gt;&#10;&#10;    &lt;Box style={{ height: 22 }} /&gt;&#10;    &lt;Text style={{ fontSize: 22, fontWeight: 'bold', color: '#061F32' }}&gt;四週排期&lt;/Text&gt;&#10;    &lt;Box style={{ height: 12 }} /&gt;&#10;    &lt;Box style={{ flexDirection: 'row', gap: 16 }}&gt;&#10;        &lt;Box style={{ flex: 1, background: '#001965', padding: '14px 18px' }}&gt;&#10;            &lt;Text style={{ fontSize: 17, fontWeight: 'bold', color: '#FFFFFF' }}&gt;W1　名单下发&lt;/Text&gt;&#10;            &lt;Text style={{ fontSize: 14, color: '#99BDED', marginTop: 4 }}&gt;132 + 134 家清单到运营，模型需求评审&lt;/Text&gt;&#10;        &lt;/Box&gt;&#10;        &lt;Box style={{ flex: 1, background: '#0A4FA0', padding: '14px 18px' }}&gt;&#10;            &lt;Text style={{ fontSize: 17, fontWeight: 'bold', color: '#FFFFFF' }}&gt;W2　整改 + 开发&lt;/Text&gt;&#10;            &lt;Text style={{ fontSize: 14, color: '#C9DCF2', marginTop: 4 }}&gt;卖家整改启动，分位数时效模型开发&lt;/Text&gt;&#10;        &lt;/Box&gt;&#10;        &lt;Box style={{ flex: 1, background: '#2E75B6', padding: '14px 18px' }}&gt;&#10;            &lt;Text style={{ fontSize: 17, fontWeight: 'bold', color: '#FFFFFF' }}&gt;W3　灰度上线&lt;/Text&gt;&#10;            &lt;Text style={{ fontSize: 14, color: '#DCE7F5', marginTop: 4 }}&gt;新时效模型 20% 流量 A/B，SLA 试点&lt;/Text&gt;&#10;        &lt;/Box&gt;&#10;        &lt;Box style={{ flex: 1, background: '#F47B39', padding: '14px 18px' }}&gt;&#10;            &lt;Text style={{ fontSize: 17, fontWeight: 'bold', color: '#FFFFFF' }}&gt;W4　验收复盘&lt;/Text&gt;&#10;            &lt;Text style={{ fontSize: 14, color: '#FFFFFF', marginTop: 4 }}&gt;超时率与评分双指标复盘，淘汰名单执行&lt;/Text&gt;&#10;        &lt;/Box&gt;&#10;    &lt;/Box&gt;&#10;    &lt;Box style={{ height: 12 }} /&gt;&#10;    &lt;Text style={{ fontSize: 13, color: '#808080' }}&gt;1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三项动作、责任方与排期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533400" y="1133475"/>
            <a:ext cx="3571875" cy="34099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533400" y="1085850"/>
            <a:ext cx="3571875" cy="3457575"/>
          </a:xfrm>
          <a:custGeom>
            <a:pathLst>
              <a:path w="375" h="363">
                <a:moveTo>
                  <a:pt x="0" y="0"/>
                </a:moveTo>
                <a:lnTo>
                  <a:pt x="375" y="0"/>
                </a:lnTo>
                <a:lnTo>
                  <a:pt x="375" y="5"/>
                </a:lnTo>
                <a:lnTo>
                  <a:pt x="0" y="5"/>
                </a:lnTo>
                <a:close/>
              </a:path>
            </a:pathLst>
          </a:custGeom>
          <a:solidFill>
            <a:srgbClr val="5A0E13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62000" y="1362075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A0E13"/>
                </a:solidFill>
                <a:latin typeface="Microsoft YaHei"/>
                <a:ea typeface="Microsoft YaHei"/>
              </a:rPr>
              <a:t>动作一</a:t>
            </a:r>
            <a:r>
              <a:rPr lang="en-US" sz="1275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5A0E13"/>
                </a:solidFill>
                <a:latin typeface="Microsoft YaHei"/>
                <a:ea typeface="Microsoft YaHei"/>
              </a:rPr>
              <a:t>卖家治理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62000" y="1695450"/>
            <a:ext cx="31146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类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132 </a:t>
            </a: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家限期整改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2000" y="2190750"/>
            <a:ext cx="3114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逐家下发超时清单，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周内超时率降至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10%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以下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62000" y="2781300"/>
            <a:ext cx="3114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逾期未达标直接下架，涉及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GMV 90.8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万（占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3.4%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62000" y="3371850"/>
            <a:ext cx="3114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同步启动同类目招商补位，优先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D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类优质卖家扩品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62000" y="4095750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责任：商家运营部　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　第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 1-2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4314825" y="1133475"/>
            <a:ext cx="3562350" cy="34099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4314825" y="1085850"/>
            <a:ext cx="3562350" cy="3457575"/>
          </a:xfrm>
          <a:custGeom>
            <a:pathLst>
              <a:path w="374" h="363">
                <a:moveTo>
                  <a:pt x="0" y="0"/>
                </a:moveTo>
                <a:lnTo>
                  <a:pt x="374" y="0"/>
                </a:lnTo>
                <a:lnTo>
                  <a:pt x="374" y="5"/>
                </a:lnTo>
                <a:lnTo>
                  <a:pt x="0" y="5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543425" y="1362075"/>
            <a:ext cx="3105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01965"/>
                </a:solidFill>
                <a:latin typeface="Microsoft YaHei"/>
                <a:ea typeface="Microsoft YaHei"/>
              </a:rPr>
              <a:t>动作二</a:t>
            </a:r>
            <a:r>
              <a:rPr lang="en-US" sz="1275" b="1">
                <a:solidFill>
                  <a:srgbClr val="00196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001965"/>
                </a:solidFill>
                <a:latin typeface="Microsoft YaHei"/>
                <a:ea typeface="Microsoft YaHei"/>
              </a:rPr>
              <a:t>算法治理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543425" y="1695450"/>
            <a:ext cx="310515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承诺时效模型重算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543425" y="2190750"/>
            <a:ext cx="3105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弃用全国统一均值，改按「距离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收货州」分位数（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P80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）输出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543425" y="2781300"/>
            <a:ext cx="3105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承诺周期当前均值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23.1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实际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12.7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天，两头都失真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543425" y="3371850"/>
            <a:ext cx="3105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覆盖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436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家、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23,542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单，超时单占总量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48%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543425" y="4095750"/>
            <a:ext cx="3105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责任：数据部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物流产品　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　第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 1-3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8086725" y="1133475"/>
            <a:ext cx="3571875" cy="311467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8086725" y="1085850"/>
            <a:ext cx="3571875" cy="3162300"/>
          </a:xfrm>
          <a:custGeom>
            <a:pathLst>
              <a:path w="375" h="332">
                <a:moveTo>
                  <a:pt x="0" y="0"/>
                </a:moveTo>
                <a:lnTo>
                  <a:pt x="375" y="0"/>
                </a:lnTo>
                <a:lnTo>
                  <a:pt x="375" y="5"/>
                </a:lnTo>
                <a:lnTo>
                  <a:pt x="0" y="5"/>
                </a:lnTo>
                <a:close/>
              </a:path>
            </a:pathLst>
          </a:custGeom>
          <a:solidFill>
            <a:srgbClr val="F47B39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15325" y="1362075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47B39"/>
                </a:solidFill>
                <a:latin typeface="Microsoft YaHei"/>
                <a:ea typeface="Microsoft YaHei"/>
              </a:rPr>
              <a:t>动作三</a:t>
            </a:r>
            <a:r>
              <a:rPr lang="en-US" sz="1275" b="1">
                <a:solidFill>
                  <a:srgbClr val="F47B39"/>
                </a:solidFill>
                <a:latin typeface="Microsoft YaHei"/>
                <a:ea typeface="Microsoft YaHei"/>
              </a:rPr>
              <a:t xml:space="preserve"> · SLA </a:t>
            </a:r>
            <a:r>
              <a:rPr lang="zh-CN" sz="1275" b="1">
                <a:solidFill>
                  <a:srgbClr val="F47B39"/>
                </a:solidFill>
                <a:latin typeface="Microsoft YaHei"/>
                <a:ea typeface="Microsoft YaHei"/>
              </a:rPr>
              <a:t>治理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15325" y="1695450"/>
            <a:ext cx="311467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061F32"/>
                </a:solidFill>
                <a:latin typeface="Microsoft YaHei"/>
                <a:ea typeface="Microsoft YaHei"/>
              </a:rPr>
              <a:t>远距州与大件品单独</a:t>
            </a: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SLA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315325" y="2190750"/>
            <a:ext cx="3114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CE / RJ / BA / ES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四州承诺时效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+2-3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天，或建前置仓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315325" y="2781300"/>
            <a:ext cx="3114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办公家具等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类品类配延迟补偿包（优惠券自动发放）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15325" y="3371850"/>
            <a:ext cx="31146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· C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134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家发货超时扣分、搜索降权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15325" y="3800475"/>
            <a:ext cx="3114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责任：物流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商家运营　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>|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　第</a:t>
            </a:r>
            <a:r>
              <a:rPr lang="en-US" sz="1125">
                <a:solidFill>
                  <a:srgbClr val="808080"/>
                </a:solidFill>
                <a:latin typeface="Microsoft YaHei"/>
                <a:ea typeface="Microsoft YaHei"/>
              </a:rPr>
              <a:t xml:space="preserve"> 2-4 </a:t>
            </a:r>
            <a:r>
              <a:rPr lang="zh-CN" sz="1125">
                <a:solidFill>
                  <a:srgbClr val="808080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33400" y="4152900"/>
            <a:ext cx="11125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Microsoft YaHei"/>
                <a:ea typeface="Microsoft YaHei"/>
              </a:rPr>
              <a:t>四週排期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533400" y="4524375"/>
            <a:ext cx="2667000" cy="828675"/>
          </a:xfrm>
          <a:prstGeom prst="rect">
            <a:avLst/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04850" y="465772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　名单下发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04850" y="4895850"/>
            <a:ext cx="23241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99BDED"/>
                </a:solidFill>
                <a:latin typeface="Microsoft YaHei"/>
                <a:ea typeface="Microsoft YaHei"/>
              </a:rPr>
              <a:t xml:space="preserve">132 + 134 </a:t>
            </a:r>
            <a:r>
              <a:rPr lang="zh-CN" sz="1050">
                <a:solidFill>
                  <a:srgbClr val="99BDED"/>
                </a:solidFill>
                <a:latin typeface="Microsoft YaHei"/>
                <a:ea typeface="Microsoft YaHei"/>
              </a:rPr>
              <a:t>家清单到运营，模型需求评审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352800" y="4524375"/>
            <a:ext cx="2667000" cy="828675"/>
          </a:xfrm>
          <a:prstGeom prst="rect">
            <a:avLst/>
          </a:prstGeom>
          <a:solidFill>
            <a:srgbClr val="0A4FA0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524250" y="465772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　整改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开发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524250" y="4895850"/>
            <a:ext cx="232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9DCF2"/>
                </a:solidFill>
                <a:latin typeface="Microsoft YaHei"/>
                <a:ea typeface="Microsoft YaHei"/>
              </a:rPr>
              <a:t>卖家整改启动，分位数时效模型开发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172200" y="4524375"/>
            <a:ext cx="2667000" cy="828675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343650" y="465772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　灰度上线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43650" y="4895850"/>
            <a:ext cx="232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Microsoft YaHei"/>
                <a:ea typeface="Microsoft YaHei"/>
              </a:rPr>
              <a:t>新时效模型</a:t>
            </a:r>
            <a:r>
              <a:rPr lang="en-US" sz="1050">
                <a:solidFill>
                  <a:srgbClr val="DCE7F5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1050">
                <a:solidFill>
                  <a:srgbClr val="DCE7F5"/>
                </a:solidFill>
                <a:latin typeface="Microsoft YaHei"/>
                <a:ea typeface="Microsoft YaHei"/>
              </a:rPr>
              <a:t>流量</a:t>
            </a:r>
            <a:r>
              <a:rPr lang="en-US" sz="1050">
                <a:solidFill>
                  <a:srgbClr val="DCE7F5"/>
                </a:solidFill>
                <a:latin typeface="Microsoft YaHei"/>
                <a:ea typeface="Microsoft YaHei"/>
              </a:rPr>
              <a:t xml:space="preserve"> A/B</a:t>
            </a:r>
            <a:r>
              <a:rPr lang="zh-CN" sz="1050">
                <a:solidFill>
                  <a:srgbClr val="DCE7F5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DCE7F5"/>
                </a:solidFill>
                <a:latin typeface="Microsoft YaHei"/>
                <a:ea typeface="Microsoft YaHei"/>
              </a:rPr>
              <a:t xml:space="preserve">SLA </a:t>
            </a:r>
            <a:r>
              <a:rPr lang="zh-CN" sz="1050">
                <a:solidFill>
                  <a:srgbClr val="DCE7F5"/>
                </a:solidFill>
                <a:latin typeface="Microsoft YaHei"/>
                <a:ea typeface="Microsoft YaHei"/>
              </a:rPr>
              <a:t>试点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8991600" y="4524375"/>
            <a:ext cx="2667000" cy="828675"/>
          </a:xfrm>
          <a:prstGeom prst="rect">
            <a:avLst/>
          </a:prstGeom>
          <a:solidFill>
            <a:srgbClr val="F47B39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163050" y="465772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　验收复盘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163050" y="4895850"/>
            <a:ext cx="23241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超时率与评分双指标复盘，淘汰名单执行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3400" y="5467350"/>
            <a:ext cx="1112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style={{&#10;    width: '1280px', height: '720px', background: '#FFFFFF',&#10;    padding: '44px 56px 28px 56px',&#10;}}&gt;&#10;    &lt;Text style={{ fontSize: 32, fontWeight: 'bold', color: '#061F32' }}&gt;&#10;        预期收益：超时率降到 6%，平台评分回到 4.20 以上&#10;    &lt;/Text&gt;&#10;    &lt;Box style={{ height: 1, background: '#061F32', marginTop: 12 }} /&gt;&#10;    &lt;Box style={{ height: 26 }} /&gt;&#10;&#10;    &lt;Box style={{ flexDirection: 'row', gap: 24, height: 200 }}&gt;&#10;        &lt;Box style={{ flex: 1, background: '#F5F5F5', padding: '22px 24px' }}&gt;&#10;            &lt;Text style={{ fontSize: 16, color: '#808080' }}&gt;超时率&lt;/Text&gt;&#10;            &lt;Box style={{ flexDirection: 'row', alignItems: 'baseline', gap: 12 }}&gt;&#10;                &lt;Text style={{ fontSize: 40, fontWeight: 'bold', color: '#44546A' }}&gt;9.41%&lt;/Text&gt;&#10;                &lt;Text style={{ fontSize: 22, color: '#808080' }}&gt;→&lt;/Text&gt;&#10;                &lt;Text style={{ fontSize: 40, fontWeight: 'bold', color: '#001965' }}&gt;6.0%&lt;/Text&gt;&#10;            &lt;/Box&gt;&#10;            &lt;Box style={{ height: 10 }} /&gt;&#10;            &lt;Text style={{ fontSize: 15, color: '#44546A', lineHeight: 1.5 }}&gt;减少约 2,500 单超时订单&lt;/Text&gt;&#10;        &lt;/Box&gt;&#10;        &lt;Box style={{ flex: 1, background: '#F5F5F5', padding: '22px 24px' }}&gt;&#10;            &lt;Text style={{ fontSize: 16, color: '#808080' }}&gt;平台平均评分&lt;/Text&gt;&#10;            &lt;Box style={{ flexDirection: 'row', alignItems: 'baseline', gap: 12 }}&gt;&#10;                &lt;Text style={{ fontSize: 40, fontWeight: 'bold', color: '#44546A' }}&gt;4.09&lt;/Text&gt;&#10;                &lt;Text style={{ fontSize: 22, color: '#808080' }}&gt;→&lt;/Text&gt;&#10;                &lt;Text style={{ fontSize: 40, fontWeight: 'bold', color: '#001965' }}&gt;4.20+&lt;/Text&gt;&#10;            &lt;/Box&gt;&#10;            &lt;Box style={{ height: 10 }} /&gt;&#10;            &lt;Text style={{ fontSize: 15, color: '#44546A', lineHeight: 1.5 }}&gt;超时单评分 2.48 是主要拖累项&lt;/Text&gt;&#10;        &lt;/Box&gt;&#10;        &lt;Box style={{ flex: 1, background: '#F5F5F5', padding: '22px 24px' }}&gt;&#10;            &lt;Text style={{ fontSize: 16, color: '#808080' }}&gt;1 星差评&lt;/Text&gt;&#10;            &lt;Box style={{ flexDirection: 'row', alignItems: 'baseline', gap: 12 }}&gt;&#10;                &lt;Text style={{ fontSize: 40, fontWeight: 'bold', color: '#5A0E13' }}&gt;11.5%&lt;/Text&gt;&#10;                &lt;Text style={{ fontSize: 22, color: '#808080' }}&gt;→&lt;/Text&gt;&#10;                &lt;Text style={{ fontSize: 40, fontWeight: 'bold', color: '#001965' }}&gt;8% 以下&lt;/Text&gt;&#10;            &lt;/Box&gt;&#10;            &lt;Box style={{ height: 10 }} /&gt;&#10;            &lt;Text style={{ fontSize: 15, color: '#44546A', lineHeight: 1.5 }}&gt;延迟 6 天以上订单 1 星率超 60%&lt;/Text&gt;&#10;        &lt;/Box&gt;&#10;        &lt;Box style={{ flex: 1, background: '#F5F5F5', padding: '22px 24px' }}&gt;&#10;            &lt;Text style={{ fontSize: 16, color: '#808080' }}&gt;治理成本&lt;/Text&gt;&#10;            &lt;Box style={{ flexDirection: 'row', alignItems: 'baseline', gap: 12 }}&gt;&#10;                &lt;Text style={{ fontSize: 40, fontWeight: 'bold', color: '#061F32' }}&gt;90.8 万&lt;/Text&gt;&#10;            &lt;/Box&gt;&#10;            &lt;Box style={{ height: 10 }} /&gt;&#10;            &lt;Text style={{ fontSize: 15, color: '#44546A', lineHeight: 1.5 }}&gt;A 类清退涉及的 GMV 敞口（占 3.4%）&lt;/Text&gt;&#10;        &lt;/Box&gt;&#10;    &lt;/Box&gt;&#10;&#10;    &lt;Box style={{ height: 26 }} /&gt;&#10;    &lt;Text style={{ fontSize: 22, fontWeight: 'bold', color: '#061F32' }}&gt;需要老板拍板的两件事&lt;/Text&gt;&#10;    &lt;Box style={{ height: 12 }} /&gt;&#10;    &lt;Box style={{ flexDirection: 'row', gap: 24 }}&gt;&#10;        &lt;Box style={{ flex: 1, background: '#FFFFFF', border: '2px solid #5A0E13', padding: '20px 24px' }}&gt;&#10;            &lt;Text style={{ fontSize: 19, fontWeight: 'bold', color: '#5A0E13' }}&gt;1 · 是否接受 GMV 短期让渡&lt;/Text&gt;&#10;            &lt;Text style={{ fontSize: 16, color: '#44546A', lineHeight: 1.6, marginTop: 8 }}&gt;&#10;                132 家 A 类卖家清退将短期损失约 90.8 万 GMV（占 3.4%）。若不执行，&#10;                这 132 家每年将持续制造约 1,000 单超时与 0.5 分的评分拖累。&#10;            &lt;/Text&gt;&#10;        &lt;/Box&gt;&#10;        &lt;Box style={{ flex: 1, background: '#FFFFFF', border: '2px solid #001965', padding: '20px 24px' }}&gt;&#10;            &lt;Text style={{ fontSize: 19, fontWeight: 'bold', color: '#001965' }}&gt;2 · 承诺时效是否可以变长&lt;/Text&gt;&#10;            &lt;Text style={{ fontSize: 16, color: '#44546A', lineHeight: 1.6, marginTop: 8 }}&gt;&#10;                远距离州时效 +2-3 天会略微降低转化，但能把超时率从 16% 压到 8%。&#10;                需要市场部确认这一取舍，数据部可做 A/B 验证。&#10;            &lt;/Text&gt;&#10;        &lt;/Box&gt;&#10;    &lt;/Box&gt;&#10;&#10;    &lt;Box style={{ height: 20 }} /&gt;&#10;    &lt;Box style={{ height: 1, background: '#D9D9D9' }} /&gt;&#10;    &lt;Box style={{ height: 14 }} /&gt;&#10;    &lt;Text style={{ fontSize: 16, color: '#44546A', lineHeight: 1.6 }}&gt;&#10;        口径说明：样本 72,907 单（已完成买卖双方地理匹配与延迟字段加工），延迟定义 = 实际送达晚于承诺最长时间；&#10;        GMV 口径 SUM(price + freight_value)，客户口径 customer_unique_id。&#10;    &lt;/Text&gt;&#10;    &lt;Text style={{ fontSize: 13, color: '#808080', marginTop: 8 }}&gt;11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11125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预期收益：超时率降到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6%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，平台评分回到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 4.20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以上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33400" y="904875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533400" y="1162050"/>
            <a:ext cx="2609850" cy="1905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超时率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62000" y="1562100"/>
            <a:ext cx="9715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44546A"/>
                </a:solidFill>
                <a:latin typeface="Microsoft YaHei"/>
                <a:ea typeface="Microsoft YaHei"/>
              </a:rPr>
              <a:t>9.41%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847850" y="1562100"/>
            <a:ext cx="1714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080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2133600" y="1562100"/>
            <a:ext cx="7810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1965"/>
                </a:solidFill>
                <a:latin typeface="Microsoft YaHei"/>
                <a:ea typeface="Microsoft YaHei"/>
              </a:rPr>
              <a:t>6.0%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62000" y="2114550"/>
            <a:ext cx="2152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减少约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 2,500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单超时订单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371850" y="1162050"/>
            <a:ext cx="2609850" cy="1905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600450" y="13716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平台平均评分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600450" y="15621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44546A"/>
                </a:solidFill>
                <a:latin typeface="Microsoft YaHei"/>
                <a:ea typeface="Microsoft YaHei"/>
              </a:rPr>
              <a:t>4.09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457700" y="1562100"/>
            <a:ext cx="1809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080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752975" y="1562100"/>
            <a:ext cx="10001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1965"/>
                </a:solidFill>
                <a:latin typeface="Microsoft YaHei"/>
                <a:ea typeface="Microsoft YaHei"/>
              </a:rPr>
              <a:t>4.20+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600450" y="2114550"/>
            <a:ext cx="2152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超时单评分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 2.48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是主要拖累项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210300" y="1162050"/>
            <a:ext cx="2609850" cy="1905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438900" y="13716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星差评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438900" y="1562100"/>
            <a:ext cx="790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5A0E13"/>
                </a:solidFill>
                <a:latin typeface="Microsoft YaHei"/>
                <a:ea typeface="Microsoft YaHei"/>
              </a:rPr>
              <a:t>11.5%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343775" y="1562100"/>
            <a:ext cx="142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808080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600950" y="1562100"/>
            <a:ext cx="990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1965"/>
                </a:solidFill>
                <a:latin typeface="Microsoft YaHei"/>
                <a:ea typeface="Microsoft YaHei"/>
              </a:rPr>
              <a:t xml:space="preserve">8% </a:t>
            </a:r>
            <a:r>
              <a:rPr lang="zh-CN" sz="3000" b="1">
                <a:solidFill>
                  <a:srgbClr val="001965"/>
                </a:solidFill>
                <a:latin typeface="Microsoft YaHei"/>
                <a:ea typeface="Microsoft YaHei"/>
              </a:rPr>
              <a:t>以下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438900" y="2114550"/>
            <a:ext cx="21526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延迟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天以上订单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星率超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 60%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9048750" y="1162050"/>
            <a:ext cx="2609850" cy="1905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277350" y="13716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治理成本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277350" y="1562100"/>
            <a:ext cx="13144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61F32"/>
                </a:solidFill>
                <a:latin typeface="Microsoft YaHei"/>
                <a:ea typeface="Microsoft YaHei"/>
              </a:rPr>
              <a:t xml:space="preserve">90.8 </a:t>
            </a:r>
            <a:r>
              <a:rPr lang="zh-CN" sz="3000" b="1">
                <a:solidFill>
                  <a:srgbClr val="061F32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277350" y="2114550"/>
            <a:ext cx="2152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类清退涉及的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 GMV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敞口（占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 xml:space="preserve"> 3.4%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33400" y="3314700"/>
            <a:ext cx="11125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Microsoft YaHei"/>
                <a:ea typeface="Microsoft YaHei"/>
              </a:rPr>
              <a:t>需要老板拍板的两件事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33400" y="3686175"/>
            <a:ext cx="5448300" cy="1266825"/>
          </a:xfrm>
          <a:prstGeom prst="rect">
            <a:avLst/>
          </a:prstGeom>
          <a:solidFill>
            <a:srgbClr val="FFFFFF"/>
          </a:solidFill>
          <a:ln w="25400">
            <a:solidFill>
              <a:srgbClr val="5A0E13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62000" y="3876675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1 · </a:t>
            </a:r>
            <a:r>
              <a:rPr lang="zh-CN" sz="1425" b="1">
                <a:solidFill>
                  <a:srgbClr val="5A0E13"/>
                </a:solidFill>
                <a:latin typeface="Microsoft YaHei"/>
                <a:ea typeface="Microsoft YaHei"/>
              </a:rPr>
              <a:t>是否接受</a:t>
            </a:r>
            <a:r>
              <a:rPr lang="en-US" sz="1425" b="1">
                <a:solidFill>
                  <a:srgbClr val="5A0E13"/>
                </a:solidFill>
                <a:latin typeface="Microsoft YaHei"/>
                <a:ea typeface="Microsoft YaHei"/>
              </a:rPr>
              <a:t xml:space="preserve"> GMV </a:t>
            </a:r>
            <a:r>
              <a:rPr lang="zh-CN" sz="1425" b="1">
                <a:solidFill>
                  <a:srgbClr val="5A0E13"/>
                </a:solidFill>
                <a:latin typeface="Microsoft YaHei"/>
                <a:ea typeface="Microsoft YaHei"/>
              </a:rPr>
              <a:t>短期让渡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62000" y="4171950"/>
            <a:ext cx="4991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132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家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类卖家清退将短期损失约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90.8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万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GMV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（占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3.4%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）。若不执行，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这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132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家每年将持续制造约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1,000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单超时与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0.5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分的评分拖累。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210300" y="3686175"/>
            <a:ext cx="5448300" cy="1266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1965"/>
            </a:solidFill>
            <a:prstDash val="solid"/>
          </a:ln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38900" y="3876675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01965"/>
                </a:solidFill>
                <a:latin typeface="Microsoft YaHei"/>
                <a:ea typeface="Microsoft YaHei"/>
              </a:rPr>
              <a:t xml:space="preserve">2 · </a:t>
            </a:r>
            <a:r>
              <a:rPr lang="zh-CN" sz="1425" b="1">
                <a:solidFill>
                  <a:srgbClr val="001965"/>
                </a:solidFill>
                <a:latin typeface="Microsoft YaHei"/>
                <a:ea typeface="Microsoft YaHei"/>
              </a:rPr>
              <a:t>承诺时效是否可以变长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438900" y="4171950"/>
            <a:ext cx="4991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远距离州时效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+2-3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天会略微降低转化，但能把超时率从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16%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压到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8%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。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需要市场部确认这一取舍，数据部可做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A/B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验证。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533400" y="5143500"/>
            <a:ext cx="11125200" cy="9525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33400" y="5286375"/>
            <a:ext cx="11125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口径说明：样本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72,907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单（已完成买卖双方地理匹配与延迟字段加工），延迟定义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实际送达晚于承诺最长时间；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GMV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口径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SUM(price + freight_value)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，客户口径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 xml:space="preserve"> customer_unique_id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33400" y="5953125"/>
            <a:ext cx="1112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&#10;    width: '1280px', height: '720px', background: '#061F32',&#10;    padding: '56px 60px 50px 60px', justifyContent: 'space-between',&#10;}}&gt;&#10;    &lt;Box&gt;&#10;        &lt;Text style={{ fontSize: 20, color: '#08A6F6', letterSpacing: 2 }}&gt;CONCLUSION&lt;/Text&gt;&#10;        &lt;Box style={{ height: 22 }} /&gt;&#10;        &lt;Text style={{ fontSize: 54, fontWeight: 'bold', color: '#FFFFFF', lineHeight: 1.2 }}&gt;&#10;            一句话结论&#10;        &lt;/Text&gt;&#10;        &lt;Box style={{ height: 30 }} /&gt;&#10;        &lt;Text style={{ fontSize: 34, color: '#FFFFFF', lineHeight: 1.45 }}&gt;&#10;            平台 9.41% 的订单超时，把平均评分从 4.26 拉到 2.48；&#10;        &lt;/Text&gt;&#10;        &lt;Text style={{ fontSize: 34, color: '#F47B39', lineHeight: 1.45 }}&gt;&#10;            只要把延迟控制在 1 天以内，这 1.78 分的损失基本不存在。&#10;        &lt;/Text&gt;&#10;    &lt;/Box&gt;&#10;&#10;    &lt;Box style={{ flexDirection: 'row', gap: 24 }}&gt;&#10;        &lt;Box style={{ flex: 1, background: '#082B45', padding: '22px 24px' }}&gt;&#10;            &lt;Text style={{ fontSize: 18, fontWeight: 'bold', color: '#08A6F6' }}&gt;归因&lt;/Text&gt;&#10;            &lt;Text style={{ fontSize: 16, color: '#E7E6E6', lineHeight: 1.6, marginTop: 8 }}&gt;&#10;                48% 超时单来自时效预测失真的 B 类卖家，15% 来自 132 家 A 类问题卖家——有名单、可定点清除。&#10;            &lt;/Text&gt;&#10;        &lt;/Box&gt;&#10;        &lt;Box style={{ flex: 1, background: '#082B45', padding: '22px 24px' }}&gt;&#10;            &lt;Text style={{ fontSize: 18, fontWeight: 'bold', color: '#08A6F6' }}&gt;红线&lt;/Text&gt;&#10;            &lt;Text style={{ fontSize: 16, color: '#E7E6E6', lineHeight: 1.6, marginTop: 8 }}&gt;&#10;                承诺时效按「实际延迟 ≤1 天」倒推，远距离州与大件品类单设 SLA。&#10;            &lt;/Text&gt;&#10;        &lt;/Box&gt;&#10;        &lt;Box style={{ flex: 1, background: '#082B45', padding: '22px 24px' }}&gt;&#10;            &lt;Text style={{ fontSize: 18, fontWeight: 'bold', color: '#08A6F6' }}&gt;交付&lt;/Text&gt;&#10;            &lt;Text style={{ fontSize: 16, color: '#E7E6E6', lineHeight: 1.6, marginTop: 8 }}&gt;&#10;                卖家四级清单、品类四级清单、区域优先级已落表，可直接进运营系统。&#10;            &lt;/Text&gt;&#10;        &lt;/Box&gt;&#10;    &lt;/Box&gt;&#10;&#10;    &lt;Box&gt;&#10;        &lt;Box style={{ height: 1, background: '#44546A' }} /&gt;&#10;        &lt;Box style={{ height: 16 }} /&gt;&#10;        &lt;Box style={{ flexDirection: 'row', gap: 40 }}&gt;&#10;            &lt;Text style={{ fontSize: 16, color: '#808080' }}&gt;数据窗口 2016-09 ~ 2018-08&lt;/Text&gt;&#10;            &lt;Text style={{ fontSize: 16, color: '#808080' }}&gt;样本 72,907 单&lt;/Text&gt;&#10;            &lt;Text style={{ fontSize: 16, color: '#808080' }}&gt;数据部 · 履约延迟治理专项&lt;/Text&gt;&#10;            &lt;Text style={{ fontSize: 16, color: '#808080' }}&gt;下一步：客户分层与复购（Q2）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08A6F6"/>
                </a:solidFill>
                <a:latin typeface="Microsoft YaHei"/>
                <a:ea typeface="Microsoft YaHei"/>
              </a:rPr>
              <a:t>CONCLUSION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71500" y="971550"/>
            <a:ext cx="11049000" cy="7429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一句话结论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71500" y="2000250"/>
            <a:ext cx="11049000" cy="571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550">
                <a:solidFill>
                  <a:srgbClr val="FFFFFF"/>
                </a:solidFill>
                <a:latin typeface="Microsoft YaHei"/>
                <a:ea typeface="Microsoft YaHei"/>
              </a:rPr>
              <a:t>平台</a:t>
            </a:r>
            <a:r>
              <a:rPr lang="en-US" sz="2550">
                <a:solidFill>
                  <a:srgbClr val="FFFFFF"/>
                </a:solidFill>
                <a:latin typeface="Microsoft YaHei"/>
                <a:ea typeface="Microsoft YaHei"/>
              </a:rPr>
              <a:t xml:space="preserve"> 9.41% </a:t>
            </a:r>
            <a:r>
              <a:rPr lang="zh-CN" sz="2550">
                <a:solidFill>
                  <a:srgbClr val="FFFFFF"/>
                </a:solidFill>
                <a:latin typeface="Microsoft YaHei"/>
                <a:ea typeface="Microsoft YaHei"/>
              </a:rPr>
              <a:t>的订单超时，把平均评分从</a:t>
            </a:r>
            <a:r>
              <a:rPr lang="en-US" sz="2550">
                <a:solidFill>
                  <a:srgbClr val="FFFFFF"/>
                </a:solidFill>
                <a:latin typeface="Microsoft YaHei"/>
                <a:ea typeface="Microsoft YaHei"/>
              </a:rPr>
              <a:t xml:space="preserve"> 4.26 </a:t>
            </a:r>
            <a:r>
              <a:rPr lang="zh-CN" sz="2550">
                <a:solidFill>
                  <a:srgbClr val="FFFFFF"/>
                </a:solidFill>
                <a:latin typeface="Microsoft YaHei"/>
                <a:ea typeface="Microsoft YaHei"/>
              </a:rPr>
              <a:t>拉到</a:t>
            </a:r>
            <a:r>
              <a:rPr lang="en-US" sz="2550">
                <a:solidFill>
                  <a:srgbClr val="FFFFFF"/>
                </a:solidFill>
                <a:latin typeface="Microsoft YaHei"/>
                <a:ea typeface="Microsoft YaHei"/>
              </a:rPr>
              <a:t xml:space="preserve"> 2.48</a:t>
            </a:r>
            <a:r>
              <a:rPr lang="zh-CN" sz="2550">
                <a:solidFill>
                  <a:srgbClr val="FFFFFF"/>
                </a:solidFill>
                <a:latin typeface="Microsoft YaHei"/>
                <a:ea typeface="Microsoft YaHei"/>
              </a:rPr>
              <a:t>；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2571750"/>
            <a:ext cx="11049000" cy="571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550">
                <a:solidFill>
                  <a:srgbClr val="F47B39"/>
                </a:solidFill>
                <a:latin typeface="Microsoft YaHei"/>
                <a:ea typeface="Microsoft YaHei"/>
              </a:rPr>
              <a:t>只要把延迟控制在</a:t>
            </a:r>
            <a:r>
              <a:rPr lang="en-US" sz="2550">
                <a:solidFill>
                  <a:srgbClr val="F47B3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2550">
                <a:solidFill>
                  <a:srgbClr val="F47B39"/>
                </a:solidFill>
                <a:latin typeface="Microsoft YaHei"/>
                <a:ea typeface="Microsoft YaHei"/>
              </a:rPr>
              <a:t>天以内，这</a:t>
            </a:r>
            <a:r>
              <a:rPr lang="en-US" sz="2550">
                <a:solidFill>
                  <a:srgbClr val="F47B39"/>
                </a:solidFill>
                <a:latin typeface="Microsoft YaHei"/>
                <a:ea typeface="Microsoft YaHei"/>
              </a:rPr>
              <a:t xml:space="preserve"> 1.78 </a:t>
            </a:r>
            <a:r>
              <a:rPr lang="zh-CN" sz="2550">
                <a:solidFill>
                  <a:srgbClr val="F47B39"/>
                </a:solidFill>
                <a:latin typeface="Microsoft YaHei"/>
                <a:ea typeface="Microsoft YaHei"/>
              </a:rPr>
              <a:t>分的损失基本不存在。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71500" y="3790950"/>
            <a:ext cx="3533775" cy="1590675"/>
          </a:xfrm>
          <a:prstGeom prst="rect">
            <a:avLst/>
          </a:prstGeom>
          <a:solidFill>
            <a:srgbClr val="082B45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3076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A6F6"/>
                </a:solidFill>
                <a:latin typeface="Microsoft YaHei"/>
                <a:ea typeface="Microsoft YaHei"/>
              </a:rPr>
              <a:t>归因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00100" y="4286250"/>
            <a:ext cx="307657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E7E6E6"/>
                </a:solidFill>
                <a:latin typeface="Microsoft YaHei"/>
                <a:ea typeface="Microsoft YaHei"/>
              </a:rPr>
              <a:t xml:space="preserve">48% </a:t>
            </a: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超时单来自时效预测失真的</a:t>
            </a:r>
            <a:r>
              <a:rPr lang="en-US" sz="1200">
                <a:solidFill>
                  <a:srgbClr val="E7E6E6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类卖家，</a:t>
            </a:r>
            <a:r>
              <a:rPr lang="en-US" sz="1200">
                <a:solidFill>
                  <a:srgbClr val="E7E6E6"/>
                </a:solidFill>
                <a:latin typeface="Microsoft YaHei"/>
                <a:ea typeface="Microsoft YaHei"/>
              </a:rPr>
              <a:t xml:space="preserve">15% </a:t>
            </a: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来自</a:t>
            </a:r>
            <a:r>
              <a:rPr lang="en-US" sz="1200">
                <a:solidFill>
                  <a:srgbClr val="E7E6E6"/>
                </a:solidFill>
                <a:latin typeface="Microsoft YaHei"/>
                <a:ea typeface="Microsoft YaHei"/>
              </a:rPr>
              <a:t xml:space="preserve"> 132 </a:t>
            </a: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家</a:t>
            </a:r>
            <a:r>
              <a:rPr lang="en-US" sz="1200">
                <a:solidFill>
                  <a:srgbClr val="E7E6E6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类问题卖家——有名单、可定点清除。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333875" y="3790950"/>
            <a:ext cx="3524250" cy="1590675"/>
          </a:xfrm>
          <a:prstGeom prst="rect">
            <a:avLst/>
          </a:prstGeom>
          <a:solidFill>
            <a:srgbClr val="082B45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562475" y="4000500"/>
            <a:ext cx="3067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A6F6"/>
                </a:solidFill>
                <a:latin typeface="Microsoft YaHei"/>
                <a:ea typeface="Microsoft YaHei"/>
              </a:rPr>
              <a:t>红线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562475" y="4286250"/>
            <a:ext cx="3067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承诺时效按「实际延迟</a:t>
            </a:r>
            <a:r>
              <a:rPr lang="en-US" sz="1200">
                <a:solidFill>
                  <a:srgbClr val="E7E6E6"/>
                </a:solidFill>
                <a:latin typeface="Microsoft YaHei"/>
                <a:ea typeface="Microsoft YaHei"/>
              </a:rPr>
              <a:t xml:space="preserve"> ≤1 </a:t>
            </a: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天」倒推，远距离州与大件品类单设</a:t>
            </a:r>
            <a:r>
              <a:rPr lang="en-US" sz="1200">
                <a:solidFill>
                  <a:srgbClr val="E7E6E6"/>
                </a:solidFill>
                <a:latin typeface="Microsoft YaHei"/>
                <a:ea typeface="Microsoft YaHei"/>
              </a:rPr>
              <a:t xml:space="preserve"> SLA</a:t>
            </a: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8086725" y="3790950"/>
            <a:ext cx="3533775" cy="1590675"/>
          </a:xfrm>
          <a:prstGeom prst="rect">
            <a:avLst/>
          </a:prstGeom>
          <a:solidFill>
            <a:srgbClr val="082B45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315325" y="4000500"/>
            <a:ext cx="3076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8A6F6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315325" y="4286250"/>
            <a:ext cx="3076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7E6E6"/>
                </a:solidFill>
                <a:latin typeface="Microsoft YaHei"/>
                <a:ea typeface="Microsoft YaHei"/>
              </a:rPr>
              <a:t>卖家四级清单、品类四级清单、区域优先级已落表，可直接进运营系统。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71500" y="6029325"/>
            <a:ext cx="11049000" cy="952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71500" y="6191250"/>
            <a:ext cx="206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数据窗口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2016-09 ~ 2018-08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019425" y="6191250"/>
            <a:ext cx="103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样本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72,907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38650" y="6191250"/>
            <a:ext cx="180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数据部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履约延迟治理专项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629400" y="6191250"/>
            <a:ext cx="2200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下一步：客户分层与复购（</a:t>
            </a:r>
            <a:r>
              <a:rPr lang="en-US" sz="1200">
                <a:solidFill>
                  <a:srgbClr val="808080"/>
                </a:solidFill>
                <a:latin typeface="Microsoft YaHei"/>
                <a:ea typeface="Microsoft YaHei"/>
              </a:rPr>
              <a:t>Q2</a:t>
            </a:r>
            <a:r>
              <a:rPr lang="zh-CN" sz="1200">
                <a:solidFill>
                  <a:srgbClr val="80808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2026-10-19T22:25:03Z</dcterms:created>
  <dcterms:modified xsi:type="dcterms:W3CDTF">2026-10-19T22:25:03Z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{"AIGC":{"Label":"1","ContentProducer":"00119111010856365494821B355","ProduceID":"01a1547b1098797880b6af7bee80d410","ReservedCode1":"","ContentPropagator":"00119111010856365494821B355","PropagateID":"01a1547b1098797880b6af7bee80d410","ReservedCode2":""}}</vt:lpwstr>
  </property>
</Properties>
</file>